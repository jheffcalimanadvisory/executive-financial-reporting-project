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417320" y="1417320"/>
            <a:ext cx="2606040" cy="2606040"/>
          </a:xfrm>
          <a:prstGeom prst="ellipse">
            <a:avLst/>
          </a:prstGeom>
          <a:noFill/>
          <a:ln w="17780">
            <a:solidFill>
              <a:srgbClr val="2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10972"/>
          </a:xfrm>
          <a:prstGeom prst="rect">
            <a:avLst/>
          </a:prstGeom>
          <a:solidFill>
            <a:srgbClr val="3A5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10896"/>
            <a:ext cx="310896" cy="310896"/>
          </a:xfrm>
          <a:prstGeom prst="rect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2140"/>
                </a:solidFill>
                <a:latin typeface="Segoe UI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832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CALIMAN ADVISORY SRL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743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Segoe UI"/>
              </a:rPr>
              <a:t>Turning data into </a:t>
            </a:r>
            <a:r>
              <a:rPr sz="1050" b="1">
                <a:solidFill>
                  <a:srgbClr val="2B8CFF"/>
                </a:solidFill>
                <a:latin typeface="Segoe UI"/>
              </a:rPr>
              <a:t>insights.</a:t>
            </a:r>
          </a:p>
          <a:p>
            <a:pPr algn="r"/>
            <a:r>
              <a:rPr sz="1050" b="1">
                <a:solidFill>
                  <a:srgbClr val="FFFFFF"/>
                </a:solidFill>
                <a:latin typeface="Segoe UI"/>
              </a:rPr>
              <a:t>Driving </a:t>
            </a:r>
            <a:r>
              <a:rPr sz="1050" b="1">
                <a:solidFill>
                  <a:srgbClr val="2B8CFF"/>
                </a:solidFill>
                <a:latin typeface="Segoe UI"/>
              </a:rPr>
              <a:t>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115568"/>
            <a:ext cx="4389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B8CFF"/>
                </a:solidFill>
                <a:latin typeface="Consolas"/>
              </a:rPr>
              <a:t>MANAGEMENT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389888"/>
            <a:ext cx="45720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Year-to-Date 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2B8CFF"/>
                </a:solidFill>
                <a:latin typeface="Segoe UI"/>
              </a:rPr>
              <a:t>January - April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2724912"/>
            <a:ext cx="640080" cy="27432"/>
          </a:xfrm>
          <a:prstGeom prst="rect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77639" y="2889504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9D6E8"/>
                </a:solidFill>
                <a:latin typeface="Segoe UI"/>
              </a:rPr>
              <a:t>Actual versus budget, with prior-year comparison, capital expenditure and full-year outlook. Prepared in July 2026 using the Power BI semantic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3438144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i="1">
                <a:solidFill>
                  <a:srgbClr val="6E85A8"/>
                </a:solidFill>
                <a:latin typeface="Segoe UI"/>
              </a:rPr>
              <a:t>Synthetic data · portfolio project.</a:t>
            </a:r>
          </a:p>
          <a:p>
            <a:pPr algn="l"/>
            <a:r>
              <a:rPr sz="750" i="1">
                <a:solidFill>
                  <a:srgbClr val="6E85A8"/>
                </a:solidFill>
                <a:latin typeface="Segoe UI"/>
              </a:rPr>
              <a:t>Does not describe any real entity.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85876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B8CFF"/>
                </a:solidFill>
                <a:latin typeface="Consolas"/>
              </a:rPr>
              <a:t>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4041648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Segoe UI"/>
              </a:rPr>
              <a:t>1 Jan - 30 Apr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79" y="385876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B8CFF"/>
                </a:solidFill>
                <a:latin typeface="Consolas"/>
              </a:rPr>
              <a:t>BASIS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79" y="4041648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Segoe UI"/>
              </a:rPr>
              <a:t>Actual vs Budget · PY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4407407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B8CFF"/>
                </a:solidFill>
                <a:latin typeface="Consolas"/>
              </a:rPr>
              <a:t>CURRENCY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590288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Segoe UI"/>
              </a:rPr>
              <a:t>EUR · thousands unless stated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79" y="4407407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2B8CFF"/>
                </a:solidFill>
                <a:latin typeface="Consolas"/>
              </a:rPr>
              <a:t>EXTRACTED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79" y="4590288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FFFFFF"/>
                </a:solidFill>
                <a:latin typeface="Segoe UI"/>
              </a:rPr>
              <a:t>8 July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16367" y="4892040"/>
            <a:ext cx="128016" cy="118872"/>
          </a:xfrm>
          <a:prstGeom prst="rect">
            <a:avLst/>
          </a:prstGeom>
          <a:solidFill>
            <a:srgbClr val="2B8CFF">
              <a:lumMod val="65000"/>
              <a:lumOff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90103" y="4837176"/>
            <a:ext cx="128016" cy="173736"/>
          </a:xfrm>
          <a:prstGeom prst="rect">
            <a:avLst/>
          </a:prstGeom>
          <a:solidFill>
            <a:srgbClr val="2B8CFF">
              <a:lumMod val="65000"/>
              <a:lumOff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63840" y="4754880"/>
            <a:ext cx="128016" cy="256032"/>
          </a:xfrm>
          <a:prstGeom prst="rect">
            <a:avLst/>
          </a:prstGeom>
          <a:solidFill>
            <a:srgbClr val="2B8CFF">
              <a:lumMod val="65000"/>
              <a:lumOff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37575" y="4809744"/>
            <a:ext cx="128016" cy="201168"/>
          </a:xfrm>
          <a:prstGeom prst="rect">
            <a:avLst/>
          </a:prstGeom>
          <a:solidFill>
            <a:srgbClr val="2B8CFF">
              <a:lumMod val="65000"/>
              <a:lumOff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11311" y="4700016"/>
            <a:ext cx="128016" cy="310896"/>
          </a:xfrm>
          <a:prstGeom prst="rect">
            <a:avLst/>
          </a:prstGeom>
          <a:solidFill>
            <a:srgbClr val="2B8CFF">
              <a:lumMod val="65000"/>
              <a:lumOff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85047" y="4773168"/>
            <a:ext cx="128016" cy="237744"/>
          </a:xfrm>
          <a:prstGeom prst="rect">
            <a:avLst/>
          </a:prstGeom>
          <a:solidFill>
            <a:srgbClr val="2B8CFF">
              <a:lumMod val="65000"/>
              <a:lumOff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58784" y="4645152"/>
            <a:ext cx="128016" cy="365760"/>
          </a:xfrm>
          <a:prstGeom prst="rect">
            <a:avLst/>
          </a:prstGeom>
          <a:solidFill>
            <a:srgbClr val="2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Back to profit: four months of real growth, budget requires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€36,9M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NET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+121,8% vs 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7168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87168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15184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€7,1M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184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EBITDA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184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19,2% margin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62856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62856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0872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€3,0M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NET INCOME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+245,8% vs 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38544" y="960120"/>
            <a:ext cx="1965960" cy="10515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638544" y="960120"/>
            <a:ext cx="196596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0" y="1088136"/>
            <a:ext cx="17099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€5,6M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444752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FREE CASH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691640"/>
            <a:ext cx="17099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OpCF €5,7M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2286000"/>
            <a:ext cx="8321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Segoe UI"/>
              </a:rPr>
              <a:t>Revenue more than doubled the budget in every single month and grew 100.8% year over year. EBITDA turned positive - €7.1M against a budgeted loss - continuing the recovery that started in 2025 after two loss-making years. Net income grew 245.8% to €3.0M.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246120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1050" b="0" i="1">
                <a:solidFill>
                  <a:srgbClr val="595959"/>
                </a:solidFill>
                <a:latin typeface="Segoe UI"/>
              </a:rPr>
              <a:t>Caution: the budget baseline is unusually conservative (implies a full-year EBITDA loss), and accounts receivable grew €27.7M against €36.9M of revenue - a real cash-conversion watch item despite the profit turn.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INCOME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YTD April 2026, actual versus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960120"/>
          <a:ext cx="566928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€ THOUSANDS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ACTUAL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BUDGET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VAR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VAR %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Net Revenue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36.900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16.637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20.263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+121,8%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Total COGS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15.846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17.737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(1.891)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-10,7%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Gross Profit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21.054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(1.099)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22.153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+2.014,9%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Total OPEX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13.975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6.744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7.231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6FD6"/>
                          </a:solidFill>
                          <a:latin typeface="Consolas"/>
                        </a:rPr>
                        <a:t>+107,2%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EBITDA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7.079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(7.843)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14.922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+190,3%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D&amp;A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3.253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265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2.988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6FD6"/>
                          </a:solidFill>
                          <a:latin typeface="Consolas"/>
                        </a:rPr>
                        <a:t>+1.127,4%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EBIT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3.826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(8.108)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11.934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+147,2%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Financial Result Net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3.203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(7)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3.210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n.m.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EBT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7.028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(8.115)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15.144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+186,6%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Income Taxes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4.028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622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3.406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6FD6"/>
                          </a:solidFill>
                          <a:latin typeface="Consolas"/>
                        </a:rPr>
                        <a:t>+547,7%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Net Income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3.000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DC2626"/>
                          </a:solidFill>
                          <a:latin typeface="Consolas"/>
                        </a:rPr>
                        <a:t>(8.737)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11.737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6FD6"/>
                          </a:solidFill>
                          <a:latin typeface="Consolas"/>
                        </a:rPr>
                        <a:t>+134,3%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1005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6FD6"/>
                </a:solidFill>
                <a:latin typeface="Consolas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251460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€14.9M EBITDA beat against budget carries through to an €11.7M net income beat: D&amp;A (-€3.0M) and taxes (-€3.4M) absorb part of the gap, while the financial result (+€3.2M) supports it.
COGS came in favorable even as revenue doubled - worth validating account mapping before the next close.
OPEX ran €7.2M over budget, absorbing about a third of the revenue upside.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VARIANCE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307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 dirty="0">
                <a:solidFill>
                  <a:srgbClr val="1A1A1A"/>
                </a:solidFill>
                <a:latin typeface="Segoe UI"/>
              </a:rPr>
              <a:t>Revenue </a:t>
            </a:r>
            <a:r>
              <a:rPr lang="it-IT" sz="1900" b="1" i="0" dirty="0" err="1">
                <a:solidFill>
                  <a:srgbClr val="1A1A1A"/>
                </a:solidFill>
                <a:latin typeface="Segoe UI"/>
              </a:rPr>
              <a:t>was</a:t>
            </a:r>
            <a:r>
              <a:rPr lang="it-IT" sz="1900" b="1" i="0" dirty="0">
                <a:solidFill>
                  <a:srgbClr val="1A1A1A"/>
                </a:solidFill>
                <a:latin typeface="Segoe UI"/>
              </a:rPr>
              <a:t> </a:t>
            </a:r>
            <a:r>
              <a:rPr lang="it-IT" sz="1900" b="1" i="0" dirty="0" err="1">
                <a:solidFill>
                  <a:srgbClr val="1A1A1A"/>
                </a:solidFill>
                <a:latin typeface="Segoe UI"/>
              </a:rPr>
              <a:t>approximately</a:t>
            </a:r>
            <a:r>
              <a:rPr lang="it-IT" sz="1900" b="1" i="0" dirty="0">
                <a:solidFill>
                  <a:srgbClr val="1A1A1A"/>
                </a:solidFill>
                <a:latin typeface="Segoe UI"/>
              </a:rPr>
              <a:t> </a:t>
            </a:r>
            <a:r>
              <a:rPr sz="1900" b="1" i="0" dirty="0">
                <a:solidFill>
                  <a:srgbClr val="1A1A1A"/>
                </a:solidFill>
                <a:latin typeface="Segoe UI"/>
              </a:rPr>
              <a:t>twice budget, every month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4</a:t>
            </a:r>
          </a:p>
        </p:txBody>
      </p:sp>
      <p:pic>
        <p:nvPicPr>
          <p:cNvPr id="7" name="Picture 6" descr="revenue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01090"/>
            <a:ext cx="5760720" cy="31927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960120"/>
            <a:ext cx="2377440" cy="96012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+20.263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YTD VARIANCE (€K)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+121,8% vs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24231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Segoe UI"/>
              </a:rPr>
              <a:t>Monthly actuals sit in a narrow €10.9-11.7M band on gross revenue. Nothing about the pattern suggests a timing effect - the budget was simply set well below the run rate the business had already reached in 2025.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VARIANCE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EBITDA bridge: budget to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5</a:t>
            </a:r>
          </a:p>
        </p:txBody>
      </p:sp>
      <p:pic>
        <p:nvPicPr>
          <p:cNvPr id="7" name="Picture 6" descr="ebitda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829" y="914400"/>
            <a:ext cx="6646341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4370832"/>
            <a:ext cx="83210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595959"/>
                </a:solidFill>
                <a:latin typeface="Segoe UI"/>
              </a:rPr>
              <a:t>€ thousands. Bars float on the running EBITDA total, so a step can cross zero; the label is that step's own change, not its endpoint. Revenue explains most of the gap; OPEX gives back about a third.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VARIANCE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OPEX grew with activity, €7.2M over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6</a:t>
            </a:r>
          </a:p>
        </p:txBody>
      </p:sp>
      <p:pic>
        <p:nvPicPr>
          <p:cNvPr id="7" name="Picture 6" descr="opex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04352"/>
            <a:ext cx="5760720" cy="25862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1005840"/>
            <a:ext cx="24231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Segoe UI"/>
              </a:rPr>
              <a:t>OPEX held at 37,9% of revenue - broadly in line with activity.
Salaries, rent and utilities make up 91% of total OPEX. Rent and utilities are normally semi-fixed and should not scale with volume the way they have here.
Action: investigate rent and utilities postings.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PRIOR-YEAR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Loss-to-profit turnaround, now continuing into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7</a:t>
            </a:r>
          </a:p>
        </p:txBody>
      </p:sp>
      <p:pic>
        <p:nvPicPr>
          <p:cNvPr id="7" name="Picture 6" descr="multiyear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31545"/>
            <a:ext cx="5760720" cy="35318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960120"/>
            <a:ext cx="2377440" cy="8229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+100,8%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892808"/>
            <a:ext cx="2377440" cy="8229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892808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2020824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+470,1%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3774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EBITDA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62432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2825496"/>
            <a:ext cx="2377440" cy="8229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2825496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83096" y="2953512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+245,8%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3310128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NET INCOME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3557015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3840480"/>
            <a:ext cx="24231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Segoe UI"/>
              </a:rPr>
              <a:t>2023 and 2024 were loss-making years; 2025 was the turnaround. The first four months of 2026 are already 46% of all of 2025's profit.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Sound position, one anomaly and one watch item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914400"/>
          <a:ext cx="56692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€ THOUSANDS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30 APR 26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31 DEC 25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595959"/>
                          </a:solidFill>
                          <a:latin typeface="Consolas"/>
                        </a:rPr>
                        <a:t>CHANGE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Cash &amp; equivalents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1.623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1.675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(53)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Accounts receivable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48.685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21.000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27.685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Inventory (!)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(7.868)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8.000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(15.868)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Prepaid expenses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280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280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Current assets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42.720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30.955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11.764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1A"/>
                          </a:solidFill>
                          <a:latin typeface="Segoe UI"/>
                        </a:rPr>
                        <a:t>Non-current assets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54.691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1A"/>
                          </a:solidFill>
                          <a:latin typeface="Consolas"/>
                        </a:rPr>
                        <a:t>54.800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Consolas"/>
                        </a:rPr>
                        <a:t>(109)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Total assets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97.410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85.755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11.655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Total liabilities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41.198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38.054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3.144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A1A1A"/>
                          </a:solidFill>
                          <a:latin typeface="Segoe UI"/>
                        </a:rPr>
                        <a:t>Equity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56.212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47.702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1A1A1A"/>
                          </a:solidFill>
                          <a:latin typeface="Consolas"/>
                        </a:rPr>
                        <a:t>8.511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55080" y="960120"/>
            <a:ext cx="2377440" cy="8686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1.59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CURRENT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from 1.31, improved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920240"/>
            <a:ext cx="2377440" cy="8686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92024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204825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0.73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40487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DEBT TO EQUITY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65176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from 0.80, improved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71800"/>
            <a:ext cx="242316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900" b="0" i="0">
                <a:solidFill>
                  <a:srgbClr val="1A1A1A"/>
                </a:solidFill>
                <a:latin typeface="Segoe UI"/>
              </a:rPr>
              <a:t>(!) Inventory is negative in the ledger at Apr 2026 (was positive at year-end 2025) - a genuine data anomaly, shown at true sign rather than masked.
AR nearly doubled - the key cash-conversion watch item.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307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900" b="1" i="0" dirty="0">
                <a:solidFill>
                  <a:srgbClr val="1A1A1A"/>
                </a:solidFill>
                <a:latin typeface="Segoe UI"/>
              </a:rPr>
              <a:t>Operations funded growth during the period</a:t>
            </a:r>
            <a:endParaRPr sz="1900" b="1" i="0" dirty="0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914400"/>
          <a:ext cx="4206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595959"/>
                          </a:solidFill>
                          <a:latin typeface="Consolas"/>
                        </a:rPr>
                        <a:t>€ THOUSANDS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595959"/>
                          </a:solidFill>
                          <a:latin typeface="Consolas"/>
                        </a:rPr>
                        <a:t>YTD APR 2026</a:t>
                      </a:r>
                    </a:p>
                  </a:txBody>
                  <a:tcPr marL="50800" marR="50800" marT="25400" marB="25400"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Net income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3.000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D&amp;A (non-cash add-back)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Consolas"/>
                        </a:rPr>
                        <a:t>3.253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Working capital &amp; other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Consolas"/>
                        </a:rPr>
                        <a:t>(586)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Cash flow from operations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Consolas"/>
                        </a:rPr>
                        <a:t>5.667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Investing activities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Consolas"/>
                        </a:rPr>
                        <a:t>(100)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1A"/>
                          </a:solidFill>
                          <a:latin typeface="Segoe UI"/>
                        </a:rPr>
                        <a:t>Financing activities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Consolas"/>
                        </a:rPr>
                        <a:t>(238)</a:t>
                      </a:r>
                    </a:p>
                  </a:txBody>
                  <a:tcPr marL="50800" marR="508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Net cash movement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Consolas"/>
                        </a:rPr>
                        <a:t>5.330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Segoe UI"/>
                        </a:rPr>
                        <a:t>Free cash flow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Consolas"/>
                        </a:rPr>
                        <a:t>5.567</a:t>
                      </a:r>
                    </a:p>
                  </a:txBody>
                  <a:tcPr marL="50800" marR="50800" marT="12700" marB="12700">
                    <a:solidFill>
                      <a:srgbClr val="EE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46320" y="1005840"/>
            <a:ext cx="384048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Segoe UI"/>
              </a:rPr>
              <a:t>Operating cash flow of €5,7M comfortably exceeds net income of €3,0M on the strength of the depreciation add-back. Investing activity was minimal; financing flows were near zero. Growth this period is largely self-funded from operations.
Note: the cash flow statement is internally consistent, but its closing cash does not currently tie to the balance sheet cash line - a €3.8M gap between two calculation paths in the model, logged for correction.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6FD6"/>
                </a:solidFill>
                <a:latin typeface="Consolas"/>
              </a:rPr>
              <a:t>CAPITAL EXPENDITURE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20624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Segoe UI"/>
              </a:rPr>
              <a:t>2025 program complete; nothing committed yet in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86460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Caliman Advisory  |  Executive Financial Review  |  Synthetic data, portfolio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4864608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 i="0">
                <a:solidFill>
                  <a:srgbClr val="595959"/>
                </a:solidFill>
                <a:latin typeface="Segoe UI"/>
              </a:rPr>
              <a:t>10</a:t>
            </a:r>
          </a:p>
        </p:txBody>
      </p:sp>
      <p:pic>
        <p:nvPicPr>
          <p:cNvPr id="7" name="Picture 6" descr="capex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81719"/>
            <a:ext cx="5760720" cy="22315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960120"/>
            <a:ext cx="2377440" cy="8686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960120"/>
            <a:ext cx="2377440" cy="32004"/>
          </a:xfrm>
          <a:prstGeom prst="rect">
            <a:avLst/>
          </a:prstGeom>
          <a:solidFill>
            <a:srgbClr val="1A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83096" y="1088136"/>
            <a:ext cx="21214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1A1A1A"/>
                </a:solidFill>
                <a:latin typeface="Consolas"/>
              </a:rPr>
              <a:t>€6,4M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3096" y="1444752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1A1A1A"/>
                </a:solidFill>
                <a:latin typeface="Segoe UI"/>
              </a:rPr>
              <a:t>2025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1691640"/>
            <a:ext cx="2121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1A6FD6"/>
                </a:solidFill>
                <a:latin typeface="Consolas"/>
              </a:rPr>
              <a:t>six 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242316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Segoe UI"/>
              </a:rPr>
              <a:t>Cloud infrastructure and cybersecurity absorbed 55.7% of the 2025 program, consistent with the shift toward hosted delivery.
No new capex committed in 2026 through April - investing outflows are minimal against a €3.3M depreciation charge, so the asset base is being consumed faster than renewed.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3657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B8CFF"/>
                </a:solidFill>
                <a:latin typeface="Consolas"/>
              </a:rPr>
              <a:t>BASIS &amp; OPEN DATA QUALITY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Three items to know before relying on individual 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17320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4864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45336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C2626"/>
                </a:solidFill>
                <a:latin typeface="Consolas"/>
              </a:rPr>
              <a:t>01  NEGATIVE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37944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>
                <a:solidFill>
                  <a:srgbClr val="D7E2F0"/>
                </a:solidFill>
                <a:latin typeface="Segoe UI"/>
              </a:rPr>
              <a:t>-€7.9M at 30 Apr 2026 (positive at YE2025). A posting error, shown at true sign, not masked.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441448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2441448"/>
            <a:ext cx="54864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569464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C2626"/>
                </a:solidFill>
                <a:latin typeface="Consolas"/>
              </a:rPr>
              <a:t>02  CASH CROSS-STATEMENT TIE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62072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>
                <a:solidFill>
                  <a:srgbClr val="D7E2F0"/>
                </a:solidFill>
                <a:latin typeface="Segoe UI"/>
              </a:rPr>
              <a:t>Balance sheet cash €1.6M vs cash flow closing cash €5.4M - a €3.8M gap between two calculation paths.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465576"/>
            <a:ext cx="8321040" cy="896112"/>
          </a:xfrm>
          <a:prstGeom prst="roundRect">
            <a:avLst>
              <a:gd name="adj" fmla="val 6000"/>
            </a:avLst>
          </a:prstGeom>
          <a:solidFill>
            <a:srgbClr val="15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3465576"/>
            <a:ext cx="54864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593592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DC2626"/>
                </a:solidFill>
                <a:latin typeface="Consolas"/>
              </a:rPr>
              <a:t>03  DSO/DPO EXCLUDED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7863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5000"/>
              </a:lnSpc>
            </a:pPr>
            <a:r>
              <a:rPr sz="1000" b="0" i="0">
                <a:solidFill>
                  <a:srgbClr val="D7E2F0"/>
                </a:solidFill>
                <a:latin typeface="Segoe UI"/>
              </a:rPr>
              <a:t>Standalone measures don't yet respect the date filter in every context; excluded pending a fix.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663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FA3C2"/>
                </a:solidFill>
                <a:latin typeface="Segoe UI"/>
              </a:rPr>
              <a:t>Caliman Advisory SRL  |  Executive Financial Review  |  Synthetic data, portfolio project  |  Prepared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1198</Words>
  <Application>Microsoft Office PowerPoint</Application>
  <PresentationFormat>Presentazione su schermo (16:9)</PresentationFormat>
  <Paragraphs>222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Financial Review - YTD</dc:title>
  <dc:subject/>
  <dc:creator>Jheff Caliman</dc:creator>
  <cp:keywords/>
  <dc:description>generated using python-pptx</dc:description>
  <cp:lastModifiedBy>Jheff Caliman</cp:lastModifiedBy>
  <cp:revision>2</cp:revision>
  <dcterms:created xsi:type="dcterms:W3CDTF">2013-01-27T09:14:16Z</dcterms:created>
  <dcterms:modified xsi:type="dcterms:W3CDTF">2026-07-08T14:31:30Z</dcterms:modified>
  <cp:category/>
</cp:coreProperties>
</file>