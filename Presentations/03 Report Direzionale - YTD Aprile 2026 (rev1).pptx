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38" d="100"/>
          <a:sy n="138" d="100"/>
        </p:scale>
        <p:origin x="834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1417320" y="1417320"/>
            <a:ext cx="2606040" cy="2606040"/>
          </a:xfrm>
          <a:prstGeom prst="ellipse">
            <a:avLst/>
          </a:prstGeom>
          <a:noFill/>
          <a:ln w="17780">
            <a:solidFill>
              <a:srgbClr val="2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9144000" cy="10972"/>
          </a:xfrm>
          <a:prstGeom prst="rect">
            <a:avLst/>
          </a:prstGeom>
          <a:solidFill>
            <a:srgbClr val="D8E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310896"/>
            <a:ext cx="310896" cy="310896"/>
          </a:xfrm>
          <a:prstGeom prst="rect">
            <a:avLst/>
          </a:prstGeom>
          <a:solidFill>
            <a:srgbClr val="2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310896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0A2140"/>
                </a:solidFill>
                <a:latin typeface="Segoe UI"/>
              </a:rPr>
              <a:t>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38328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0233F"/>
                </a:solidFill>
                <a:latin typeface="Segoe UI"/>
              </a:rPr>
              <a:t>CALIMAN ADVISORY SRL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274320"/>
            <a:ext cx="3840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50" b="1">
                <a:solidFill>
                  <a:srgbClr val="10233F"/>
                </a:solidFill>
                <a:latin typeface="Segoe UI"/>
              </a:rPr>
              <a:t>Trasformiamo i dati in </a:t>
            </a:r>
            <a:r>
              <a:rPr sz="1050" b="1">
                <a:solidFill>
                  <a:srgbClr val="2B8CFF"/>
                </a:solidFill>
                <a:latin typeface="Segoe UI"/>
              </a:rPr>
              <a:t>insight.</a:t>
            </a:r>
          </a:p>
          <a:p>
            <a:pPr algn="r"/>
            <a:r>
              <a:rPr sz="1050" b="1">
                <a:solidFill>
                  <a:srgbClr val="10233F"/>
                </a:solidFill>
                <a:latin typeface="Segoe UI"/>
              </a:rPr>
              <a:t>Guidiamo le </a:t>
            </a:r>
            <a:r>
              <a:rPr sz="1050" b="1">
                <a:solidFill>
                  <a:srgbClr val="2B8CFF"/>
                </a:solidFill>
                <a:latin typeface="Segoe UI"/>
              </a:rPr>
              <a:t>performance.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1115568"/>
            <a:ext cx="4389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2B8CFF"/>
                </a:solidFill>
                <a:latin typeface="Consolas"/>
              </a:rPr>
              <a:t>REPORT DIREZIONALE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1389888"/>
            <a:ext cx="4572000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0233F"/>
                </a:solidFill>
                <a:latin typeface="Segoe UI"/>
              </a:rPr>
              <a:t>Consuntivo </a:t>
            </a:r>
          </a:p>
          <a:p>
            <a:pPr algn="l">
              <a:lnSpc>
                <a:spcPct val="105000"/>
              </a:lnSpc>
            </a:pPr>
            <a:r>
              <a:rPr sz="2600" b="1">
                <a:solidFill>
                  <a:srgbClr val="2B8CFF"/>
                </a:solidFill>
                <a:latin typeface="Segoe UI"/>
              </a:rPr>
              <a:t>Gennaio - Aprile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77639" y="2724912"/>
            <a:ext cx="640080" cy="27432"/>
          </a:xfrm>
          <a:prstGeom prst="rect">
            <a:avLst/>
          </a:prstGeom>
          <a:solidFill>
            <a:srgbClr val="2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977639" y="2889504"/>
            <a:ext cx="4572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445168"/>
                </a:solidFill>
                <a:latin typeface="Segoe UI"/>
              </a:rPr>
              <a:t>Consuntivo a confronto con il budget, con raffronto sull’anno precedente, investimenti e prospettive di fine anno. Preparato a luglio 2026 utilizzando il modello semantico Power BI.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39" y="3438144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i="1">
                <a:solidFill>
                  <a:srgbClr val="8A93A3"/>
                </a:solidFill>
                <a:latin typeface="Segoe UI"/>
              </a:rPr>
              <a:t>Dati sintetici · progetto portfolio.</a:t>
            </a:r>
          </a:p>
          <a:p>
            <a:pPr algn="l"/>
            <a:r>
              <a:rPr sz="750" i="1">
                <a:solidFill>
                  <a:srgbClr val="8A93A3"/>
                </a:solidFill>
                <a:latin typeface="Segoe UI"/>
              </a:rPr>
              <a:t>Non descrive alcuna entità reale.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77639" y="3858768"/>
            <a:ext cx="324612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114800" y="3977639"/>
            <a:ext cx="274320" cy="274320"/>
          </a:xfrm>
          <a:prstGeom prst="ellipse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14800" y="3977639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000000"/>
                </a:solidFill>
                <a:latin typeface="Segoe UI"/>
              </a:rPr>
              <a:t>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984" y="3959352"/>
            <a:ext cx="1280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 i="0">
                <a:solidFill>
                  <a:srgbClr val="1A6FD6"/>
                </a:solidFill>
                <a:latin typeface="Consolas"/>
              </a:rPr>
              <a:t>PERIODO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3984" y="4105655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 dirty="0">
                <a:solidFill>
                  <a:srgbClr val="1A1A1A"/>
                </a:solidFill>
                <a:latin typeface="Segoe UI"/>
              </a:rPr>
              <a:t>1 gen - 30 </a:t>
            </a:r>
            <a:r>
              <a:rPr sz="750" b="0" i="0" dirty="0" err="1">
                <a:solidFill>
                  <a:srgbClr val="1A1A1A"/>
                </a:solidFill>
                <a:latin typeface="Segoe UI"/>
              </a:rPr>
              <a:t>apr</a:t>
            </a:r>
            <a:r>
              <a:rPr sz="750" b="0" i="0" dirty="0">
                <a:solidFill>
                  <a:srgbClr val="1A1A1A"/>
                </a:solidFill>
                <a:latin typeface="Segoe UI"/>
              </a:rPr>
              <a:t> 2026</a:t>
            </a:r>
          </a:p>
        </p:txBody>
      </p:sp>
      <p:sp>
        <p:nvSpPr>
          <p:cNvPr id="19" name="Oval 18"/>
          <p:cNvSpPr/>
          <p:nvPr/>
        </p:nvSpPr>
        <p:spPr>
          <a:xfrm>
            <a:off x="5742432" y="3977639"/>
            <a:ext cx="274320" cy="274320"/>
          </a:xfrm>
          <a:prstGeom prst="ellipse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42432" y="3977639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000000"/>
                </a:solidFill>
                <a:latin typeface="Segoe UI"/>
              </a:rPr>
              <a:t>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71616" y="3959352"/>
            <a:ext cx="1280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 i="0">
                <a:solidFill>
                  <a:srgbClr val="1A6FD6"/>
                </a:solidFill>
                <a:latin typeface="Consolas"/>
              </a:rPr>
              <a:t>BASE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71616" y="4105655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1A1A1A"/>
                </a:solidFill>
                <a:latin typeface="Segoe UI"/>
              </a:rPr>
              <a:t>Consuntivo vs Budget · PY 2025</a:t>
            </a:r>
          </a:p>
        </p:txBody>
      </p:sp>
      <p:sp>
        <p:nvSpPr>
          <p:cNvPr id="23" name="Oval 22"/>
          <p:cNvSpPr/>
          <p:nvPr/>
        </p:nvSpPr>
        <p:spPr>
          <a:xfrm>
            <a:off x="4114800" y="4434840"/>
            <a:ext cx="274320" cy="274320"/>
          </a:xfrm>
          <a:prstGeom prst="ellipse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14800" y="443484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000000"/>
                </a:solidFill>
                <a:latin typeface="Segoe UI"/>
              </a:rPr>
              <a:t>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43984" y="4416552"/>
            <a:ext cx="1280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 i="0">
                <a:solidFill>
                  <a:srgbClr val="1A6FD6"/>
                </a:solidFill>
                <a:latin typeface="Consolas"/>
              </a:rPr>
              <a:t>VALUTA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3984" y="4562855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1A1A1A"/>
                </a:solidFill>
                <a:latin typeface="Segoe UI"/>
              </a:rPr>
              <a:t>EUR · in migliaia salvo indicazioni</a:t>
            </a:r>
          </a:p>
        </p:txBody>
      </p:sp>
      <p:sp>
        <p:nvSpPr>
          <p:cNvPr id="27" name="Oval 26"/>
          <p:cNvSpPr/>
          <p:nvPr/>
        </p:nvSpPr>
        <p:spPr>
          <a:xfrm>
            <a:off x="5742432" y="4434840"/>
            <a:ext cx="274320" cy="274320"/>
          </a:xfrm>
          <a:prstGeom prst="ellipse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742432" y="443484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000000"/>
                </a:solidFill>
                <a:latin typeface="Segoe UI"/>
              </a:rPr>
              <a:t>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71616" y="4416552"/>
            <a:ext cx="1280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 i="0">
                <a:solidFill>
                  <a:srgbClr val="1A6FD6"/>
                </a:solidFill>
                <a:latin typeface="Consolas"/>
              </a:rPr>
              <a:t>ESTRATTO IL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71616" y="4562855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1A1A1A"/>
                </a:solidFill>
                <a:latin typeface="Segoe UI"/>
              </a:rPr>
              <a:t>8 luglio 2026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16367" y="4892040"/>
            <a:ext cx="128016" cy="118872"/>
          </a:xfrm>
          <a:prstGeom prst="rect">
            <a:avLst/>
          </a:prstGeom>
          <a:solidFill>
            <a:srgbClr val="2B8CFF">
              <a:lumMod val="45000"/>
              <a:lumOff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690103" y="4837176"/>
            <a:ext cx="128016" cy="173736"/>
          </a:xfrm>
          <a:prstGeom prst="rect">
            <a:avLst/>
          </a:prstGeom>
          <a:solidFill>
            <a:srgbClr val="2B8CFF">
              <a:lumMod val="45000"/>
              <a:lumOff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863840" y="4754880"/>
            <a:ext cx="128016" cy="256032"/>
          </a:xfrm>
          <a:prstGeom prst="rect">
            <a:avLst/>
          </a:prstGeom>
          <a:solidFill>
            <a:srgbClr val="2B8CFF">
              <a:lumMod val="45000"/>
              <a:lumOff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037575" y="4809744"/>
            <a:ext cx="128016" cy="201168"/>
          </a:xfrm>
          <a:prstGeom prst="rect">
            <a:avLst/>
          </a:prstGeom>
          <a:solidFill>
            <a:srgbClr val="2B8CFF">
              <a:lumMod val="45000"/>
              <a:lumOff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211311" y="4700016"/>
            <a:ext cx="128016" cy="310896"/>
          </a:xfrm>
          <a:prstGeom prst="rect">
            <a:avLst/>
          </a:prstGeom>
          <a:solidFill>
            <a:srgbClr val="2B8CFF">
              <a:lumMod val="45000"/>
              <a:lumOff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385047" y="4773168"/>
            <a:ext cx="128016" cy="237744"/>
          </a:xfrm>
          <a:prstGeom prst="rect">
            <a:avLst/>
          </a:prstGeom>
          <a:solidFill>
            <a:srgbClr val="2B8CFF">
              <a:lumMod val="45000"/>
              <a:lumOff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558784" y="4645152"/>
            <a:ext cx="128016" cy="365760"/>
          </a:xfrm>
          <a:prstGeom prst="rect">
            <a:avLst/>
          </a:prstGeom>
          <a:solidFill>
            <a:srgbClr val="2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1A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7772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A6FD6"/>
                </a:solidFill>
                <a:latin typeface="Consolas"/>
              </a:rPr>
              <a:t>SINTESI ESECUTIVA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23646"/>
            <a:ext cx="8321040" cy="6436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 dirty="0" err="1">
                <a:solidFill>
                  <a:srgbClr val="1A1A1A"/>
                </a:solidFill>
                <a:latin typeface="Segoe UI"/>
              </a:rPr>
              <a:t>Ritorno</a:t>
            </a:r>
            <a:r>
              <a:rPr sz="1900" b="1" i="0" dirty="0">
                <a:solidFill>
                  <a:srgbClr val="1A1A1A"/>
                </a:solidFill>
                <a:latin typeface="Segoe UI"/>
              </a:rPr>
              <a:t> </a:t>
            </a:r>
            <a:r>
              <a:rPr sz="1900" b="1" i="0" dirty="0" err="1">
                <a:solidFill>
                  <a:srgbClr val="1A1A1A"/>
                </a:solidFill>
                <a:latin typeface="Segoe UI"/>
              </a:rPr>
              <a:t>all'utile</a:t>
            </a:r>
            <a:r>
              <a:rPr sz="1900" b="1" i="0" dirty="0">
                <a:solidFill>
                  <a:srgbClr val="1A1A1A"/>
                </a:solidFill>
                <a:latin typeface="Segoe UI"/>
              </a:rPr>
              <a:t>: quattro </a:t>
            </a:r>
            <a:r>
              <a:rPr sz="1900" b="1" i="0" dirty="0" err="1">
                <a:solidFill>
                  <a:srgbClr val="1A1A1A"/>
                </a:solidFill>
                <a:latin typeface="Segoe UI"/>
              </a:rPr>
              <a:t>mesi</a:t>
            </a:r>
            <a:r>
              <a:rPr sz="1900" b="1" i="0" dirty="0">
                <a:solidFill>
                  <a:srgbClr val="1A1A1A"/>
                </a:solidFill>
                <a:latin typeface="Segoe UI"/>
              </a:rPr>
              <a:t> di </a:t>
            </a:r>
            <a:r>
              <a:rPr sz="1900" b="1" i="0" dirty="0" err="1">
                <a:solidFill>
                  <a:srgbClr val="1A1A1A"/>
                </a:solidFill>
                <a:latin typeface="Segoe UI"/>
              </a:rPr>
              <a:t>crescita</a:t>
            </a:r>
            <a:r>
              <a:rPr sz="1900" b="1" i="0" dirty="0">
                <a:solidFill>
                  <a:srgbClr val="1A1A1A"/>
                </a:solidFill>
                <a:latin typeface="Segoe UI"/>
              </a:rPr>
              <a:t> </a:t>
            </a:r>
            <a:r>
              <a:rPr sz="1900" b="1" i="0" dirty="0" err="1">
                <a:solidFill>
                  <a:srgbClr val="1A1A1A"/>
                </a:solidFill>
                <a:latin typeface="Segoe UI"/>
              </a:rPr>
              <a:t>reale</a:t>
            </a:r>
            <a:r>
              <a:rPr sz="1900" b="1" i="0" dirty="0">
                <a:solidFill>
                  <a:srgbClr val="1A1A1A"/>
                </a:solidFill>
                <a:latin typeface="Segoe UI"/>
              </a:rPr>
              <a:t>, </a:t>
            </a:r>
            <a:r>
              <a:rPr lang="it-IT" sz="1900" b="1" i="0" dirty="0">
                <a:solidFill>
                  <a:srgbClr val="1A1A1A"/>
                </a:solidFill>
                <a:latin typeface="Segoe UI"/>
              </a:rPr>
              <a:t>il budget richiede una revisione</a:t>
            </a:r>
            <a:endParaRPr sz="1900" b="1" i="0" dirty="0">
              <a:solidFill>
                <a:srgbClr val="1A1A1A"/>
              </a:solidFill>
              <a:latin typeface="Segoe U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1480" y="4864608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595959"/>
                </a:solidFill>
                <a:latin typeface="Segoe UI"/>
              </a:rPr>
              <a:t>Caliman Advisory  |  Report Direzionale  |  Dati sintetici, progetto portfolio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486460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50" b="0" i="0">
                <a:solidFill>
                  <a:srgbClr val="595959"/>
                </a:solidFill>
                <a:latin typeface="Segoe UI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960120"/>
            <a:ext cx="1965960" cy="105156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1480" y="960120"/>
            <a:ext cx="1965960" cy="32004"/>
          </a:xfrm>
          <a:prstGeom prst="rect">
            <a:avLst/>
          </a:prstGeom>
          <a:solidFill>
            <a:srgbClr val="1A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9496" y="1088136"/>
            <a:ext cx="17099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A1A1A"/>
                </a:solidFill>
                <a:latin typeface="Consolas"/>
              </a:rPr>
              <a:t>€36,9M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" y="1444752"/>
            <a:ext cx="17099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A1A1A"/>
                </a:solidFill>
                <a:latin typeface="Segoe UI"/>
              </a:rPr>
              <a:t>RICAVI NETTI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" y="1691640"/>
            <a:ext cx="17099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1A6FD6"/>
                </a:solidFill>
                <a:latin typeface="Consolas"/>
              </a:rPr>
              <a:t>+121,8% vs budget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87168" y="960120"/>
            <a:ext cx="1965960" cy="105156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487168" y="960120"/>
            <a:ext cx="1965960" cy="32004"/>
          </a:xfrm>
          <a:prstGeom prst="rect">
            <a:avLst/>
          </a:prstGeom>
          <a:solidFill>
            <a:srgbClr val="1A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615184" y="1088136"/>
            <a:ext cx="17099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A1A1A"/>
                </a:solidFill>
                <a:latin typeface="Consolas"/>
              </a:rPr>
              <a:t>€7,1M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15184" y="1444752"/>
            <a:ext cx="17099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A1A1A"/>
                </a:solidFill>
                <a:latin typeface="Segoe UI"/>
              </a:rPr>
              <a:t>EBITDA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15184" y="1691640"/>
            <a:ext cx="17099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1A6FD6"/>
                </a:solidFill>
                <a:latin typeface="Consolas"/>
              </a:rPr>
              <a:t>19,2% margine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62856" y="960120"/>
            <a:ext cx="1965960" cy="105156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62856" y="960120"/>
            <a:ext cx="1965960" cy="32004"/>
          </a:xfrm>
          <a:prstGeom prst="rect">
            <a:avLst/>
          </a:prstGeom>
          <a:solidFill>
            <a:srgbClr val="1A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90872" y="1088136"/>
            <a:ext cx="17099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A1A1A"/>
                </a:solidFill>
                <a:latin typeface="Consolas"/>
              </a:rPr>
              <a:t>€3,0M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90872" y="1444752"/>
            <a:ext cx="17099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A1A1A"/>
                </a:solidFill>
                <a:latin typeface="Segoe UI"/>
              </a:rPr>
              <a:t>UTILE NETTO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90872" y="1691640"/>
            <a:ext cx="17099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1A6FD6"/>
                </a:solidFill>
                <a:latin typeface="Consolas"/>
              </a:rPr>
              <a:t>+245,8% vs PY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38544" y="960120"/>
            <a:ext cx="1965960" cy="105156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638544" y="960120"/>
            <a:ext cx="1965960" cy="32004"/>
          </a:xfrm>
          <a:prstGeom prst="rect">
            <a:avLst/>
          </a:prstGeom>
          <a:solidFill>
            <a:srgbClr val="1A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766560" y="1088136"/>
            <a:ext cx="17099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A1A1A"/>
                </a:solidFill>
                <a:latin typeface="Consolas"/>
              </a:rPr>
              <a:t>€5,6M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1444752"/>
            <a:ext cx="17099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A1A1A"/>
                </a:solidFill>
                <a:latin typeface="Segoe UI"/>
              </a:rPr>
              <a:t>FLUSSO DI CASSA LIBERO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1691640"/>
            <a:ext cx="17099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1A6FD6"/>
                </a:solidFill>
                <a:latin typeface="Consolas"/>
              </a:rPr>
              <a:t>CF operativo €5,7M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2286000"/>
            <a:ext cx="8321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sz="1200" b="0" i="0">
                <a:solidFill>
                  <a:srgbClr val="1A1A1A"/>
                </a:solidFill>
                <a:latin typeface="Segoe UI"/>
              </a:rPr>
              <a:t>I ricavi hanno più che raddoppiato il budget in ogni singolo mese e sono cresciuti del 100,8% su base annua. L'EBITDA è tornato positivo - €7,1M a fronte di una perdita a budget - proseguendo la ripresa iniziata nel 2025 dopo due anni in perdita. L'utile netto è cresciuto del 245,8% a €3,0M.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3246120"/>
            <a:ext cx="8321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sz="1050" b="0" i="1">
                <a:solidFill>
                  <a:srgbClr val="595959"/>
                </a:solidFill>
                <a:latin typeface="Segoe UI"/>
              </a:rPr>
              <a:t>Attenzione: la base di budget è insolitamente prudente (implica una perdita EBITDA per l'intero anno), e i crediti verso clienti sono cresciuti di €27,7M a fronte di €36,9M di ricavi - un vero punto di attenzione sulla conversione in cassa nonostante il ritorno all'utile.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7772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A6FD6"/>
                </a:solidFill>
                <a:latin typeface="Consolas"/>
              </a:rPr>
              <a:t>CONTO ECONOMICO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20624"/>
            <a:ext cx="8321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A1A1A"/>
                </a:solidFill>
                <a:latin typeface="Segoe UI"/>
              </a:rPr>
              <a:t>YTD aprile 2026, consuntivo a confronto con il budget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864608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595959"/>
                </a:solidFill>
                <a:latin typeface="Segoe UI"/>
              </a:rPr>
              <a:t>Caliman Advisory  |  Report Direzionale  |  Dati sintetici, progetto portfolio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486460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50" b="0" i="0">
                <a:solidFill>
                  <a:srgbClr val="595959"/>
                </a:solidFill>
                <a:latin typeface="Segoe UI"/>
              </a:rPr>
              <a:t>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960120"/>
          <a:ext cx="566928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595959"/>
                          </a:solidFill>
                          <a:latin typeface="Consolas"/>
                        </a:rPr>
                        <a:t>€ MIGLIAIA</a:t>
                      </a:r>
                    </a:p>
                  </a:txBody>
                  <a:tcPr marL="50800" marR="50800" marT="25400" marB="25400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1">
                          <a:solidFill>
                            <a:srgbClr val="595959"/>
                          </a:solidFill>
                          <a:latin typeface="Consolas"/>
                        </a:rPr>
                        <a:t>CONSUNTIVO</a:t>
                      </a:r>
                    </a:p>
                  </a:txBody>
                  <a:tcPr marL="50800" marR="50800" marT="25400" marB="25400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1">
                          <a:solidFill>
                            <a:srgbClr val="595959"/>
                          </a:solidFill>
                          <a:latin typeface="Consolas"/>
                        </a:rPr>
                        <a:t>BUDGET</a:t>
                      </a:r>
                    </a:p>
                  </a:txBody>
                  <a:tcPr marL="50800" marR="50800" marT="25400" marB="25400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1">
                          <a:solidFill>
                            <a:srgbClr val="595959"/>
                          </a:solidFill>
                          <a:latin typeface="Consolas"/>
                        </a:rPr>
                        <a:t>VAR</a:t>
                      </a:r>
                    </a:p>
                  </a:txBody>
                  <a:tcPr marL="50800" marR="50800" marT="25400" marB="25400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1">
                          <a:solidFill>
                            <a:srgbClr val="595959"/>
                          </a:solidFill>
                          <a:latin typeface="Consolas"/>
                        </a:rPr>
                        <a:t>VAR %</a:t>
                      </a:r>
                    </a:p>
                  </a:txBody>
                  <a:tcPr marL="50800" marR="50800" marT="25400" marB="25400">
                    <a:solidFill>
                      <a:srgbClr val="F6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Segoe UI"/>
                        </a:rPr>
                        <a:t>Ricavi netti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1A1A"/>
                          </a:solidFill>
                          <a:latin typeface="Consolas"/>
                        </a:rPr>
                        <a:t>36.900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1A1A"/>
                          </a:solidFill>
                          <a:latin typeface="Consolas"/>
                        </a:rPr>
                        <a:t>16.637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1A1A"/>
                          </a:solidFill>
                          <a:latin typeface="Consolas"/>
                        </a:rPr>
                        <a:t>20.263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6FD6"/>
                          </a:solidFill>
                          <a:latin typeface="Consolas"/>
                        </a:rPr>
                        <a:t>+121,8%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Totale costo del venduto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onsolas"/>
                        </a:rPr>
                        <a:t>15.846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onsolas"/>
                        </a:rPr>
                        <a:t>17.737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DC2626"/>
                          </a:solidFill>
                          <a:latin typeface="Consolas"/>
                        </a:rPr>
                        <a:t>(1.891)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onsolas"/>
                        </a:rPr>
                        <a:t>-10,7%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Segoe UI"/>
                        </a:rPr>
                        <a:t>Utile lordo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1A1A"/>
                          </a:solidFill>
                          <a:latin typeface="Consolas"/>
                        </a:rPr>
                        <a:t>21.054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DC2626"/>
                          </a:solidFill>
                          <a:latin typeface="Consolas"/>
                        </a:rPr>
                        <a:t>(1.099)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1A1A"/>
                          </a:solidFill>
                          <a:latin typeface="Consolas"/>
                        </a:rPr>
                        <a:t>22.153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6FD6"/>
                          </a:solidFill>
                          <a:latin typeface="Consolas"/>
                        </a:rPr>
                        <a:t>+2.014,9%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Totale costi operativi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onsolas"/>
                        </a:rPr>
                        <a:t>13.975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onsolas"/>
                        </a:rPr>
                        <a:t>6.744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onsolas"/>
                        </a:rPr>
                        <a:t>7.231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6FD6"/>
                          </a:solidFill>
                          <a:latin typeface="Consolas"/>
                        </a:rPr>
                        <a:t>+107,2%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Segoe UI"/>
                        </a:rPr>
                        <a:t>EBITDA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1A1A"/>
                          </a:solidFill>
                          <a:latin typeface="Consolas"/>
                        </a:rPr>
                        <a:t>7.079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DC2626"/>
                          </a:solidFill>
                          <a:latin typeface="Consolas"/>
                        </a:rPr>
                        <a:t>(7.843)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1A1A"/>
                          </a:solidFill>
                          <a:latin typeface="Consolas"/>
                        </a:rPr>
                        <a:t>14.922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6FD6"/>
                          </a:solidFill>
                          <a:latin typeface="Consolas"/>
                        </a:rPr>
                        <a:t>+190,3%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Ammortamenti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onsolas"/>
                        </a:rPr>
                        <a:t>3.253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onsolas"/>
                        </a:rPr>
                        <a:t>265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onsolas"/>
                        </a:rPr>
                        <a:t>2.988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6FD6"/>
                          </a:solidFill>
                          <a:latin typeface="Consolas"/>
                        </a:rPr>
                        <a:t>+1.127,4%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Segoe UI"/>
                        </a:rPr>
                        <a:t>EBIT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1A1A"/>
                          </a:solidFill>
                          <a:latin typeface="Consolas"/>
                        </a:rPr>
                        <a:t>3.826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DC2626"/>
                          </a:solidFill>
                          <a:latin typeface="Consolas"/>
                        </a:rPr>
                        <a:t>(8.108)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1A1A"/>
                          </a:solidFill>
                          <a:latin typeface="Consolas"/>
                        </a:rPr>
                        <a:t>11.934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6FD6"/>
                          </a:solidFill>
                          <a:latin typeface="Consolas"/>
                        </a:rPr>
                        <a:t>+147,2%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Risultato finanziario netto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onsolas"/>
                        </a:rPr>
                        <a:t>3.203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DC2626"/>
                          </a:solidFill>
                          <a:latin typeface="Consolas"/>
                        </a:rPr>
                        <a:t>(7)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onsolas"/>
                        </a:rPr>
                        <a:t>3.210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onsolas"/>
                        </a:rPr>
                        <a:t>n.s.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Segoe UI"/>
                        </a:rPr>
                        <a:t>Utile ante imposte (EBT)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1A1A"/>
                          </a:solidFill>
                          <a:latin typeface="Consolas"/>
                        </a:rPr>
                        <a:t>7.028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DC2626"/>
                          </a:solidFill>
                          <a:latin typeface="Consolas"/>
                        </a:rPr>
                        <a:t>(8.115)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1A1A"/>
                          </a:solidFill>
                          <a:latin typeface="Consolas"/>
                        </a:rPr>
                        <a:t>15.144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6FD6"/>
                          </a:solidFill>
                          <a:latin typeface="Consolas"/>
                        </a:rPr>
                        <a:t>+186,6%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Imposte sul reddito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onsolas"/>
                        </a:rPr>
                        <a:t>4.028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onsolas"/>
                        </a:rPr>
                        <a:t>622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onsolas"/>
                        </a:rPr>
                        <a:t>3.406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6FD6"/>
                          </a:solidFill>
                          <a:latin typeface="Consolas"/>
                        </a:rPr>
                        <a:t>+547,7%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Segoe UI"/>
                        </a:rPr>
                        <a:t>Utile netto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1A1A"/>
                          </a:solidFill>
                          <a:latin typeface="Consolas"/>
                        </a:rPr>
                        <a:t>3.000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DC2626"/>
                          </a:solidFill>
                          <a:latin typeface="Consolas"/>
                        </a:rPr>
                        <a:t>(8.737)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1A1A"/>
                          </a:solidFill>
                          <a:latin typeface="Consolas"/>
                        </a:rPr>
                        <a:t>11.737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6FD6"/>
                          </a:solidFill>
                          <a:latin typeface="Consolas"/>
                        </a:rPr>
                        <a:t>+134,3%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263640" y="100584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A6FD6"/>
                </a:solidFill>
                <a:latin typeface="Consolas"/>
              </a:rPr>
              <a:t>Commento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325880"/>
            <a:ext cx="251460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sz="1000" b="0" i="0">
                <a:solidFill>
                  <a:srgbClr val="1A1A1A"/>
                </a:solidFill>
                <a:latin typeface="Segoe UI"/>
              </a:rPr>
              <a:t>Un miglioramento di €14,9M sull'EBITDA rispetto al budget si traduce in €11,7M sull'utile netto: ammortamenti (-€3,0M) e imposte (-€3,4M) assorbono parte del divario, mentre il risultato finanziario (+€3,2M) lo sostiene.
Il costo del venduto è risultato favorevole anche con ricavi raddoppiati - vale la pena convalidare la mappatura dei conti prima della prossima chiusura.
I costi operativi hanno superato il budget di €7,2M, assorbendo circa un terzo dell'upside sui ricavi.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7772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A6FD6"/>
                </a:solidFill>
                <a:latin typeface="Consolas"/>
              </a:rPr>
              <a:t>ANALISI DEGLI SCOSTAMENTI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20624"/>
            <a:ext cx="8321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A1A1A"/>
                </a:solidFill>
                <a:latin typeface="Segoe UI"/>
              </a:rPr>
              <a:t>I ricavi hanno corso a circa il doppio del budget, ogni mese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864608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595959"/>
                </a:solidFill>
                <a:latin typeface="Segoe UI"/>
              </a:rPr>
              <a:t>Caliman Advisory  |  Report Direzionale  |  Dati sintetici, progetto portfolio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486460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50" b="0" i="0">
                <a:solidFill>
                  <a:srgbClr val="595959"/>
                </a:solidFill>
                <a:latin typeface="Segoe UI"/>
              </a:rPr>
              <a:t>4</a:t>
            </a:r>
          </a:p>
        </p:txBody>
      </p:sp>
      <p:pic>
        <p:nvPicPr>
          <p:cNvPr id="7" name="Picture 6" descr="revenue_by_mon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01090"/>
            <a:ext cx="5760720" cy="31927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355080" y="960120"/>
            <a:ext cx="2377440" cy="96012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355080" y="960120"/>
            <a:ext cx="2377440" cy="32004"/>
          </a:xfrm>
          <a:prstGeom prst="rect">
            <a:avLst/>
          </a:prstGeom>
          <a:solidFill>
            <a:srgbClr val="1A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83096" y="1088136"/>
            <a:ext cx="21214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A1A1A"/>
                </a:solidFill>
                <a:latin typeface="Consolas"/>
              </a:rPr>
              <a:t>+20.263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3096" y="1444752"/>
            <a:ext cx="21214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A1A1A"/>
                </a:solidFill>
                <a:latin typeface="Segoe UI"/>
              </a:rPr>
              <a:t>SCOSTAMENTO YTD (€K)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3096" y="1691640"/>
            <a:ext cx="21214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1A6FD6"/>
                </a:solidFill>
                <a:latin typeface="Consolas"/>
              </a:rPr>
              <a:t>+121,8% vs budget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148840"/>
            <a:ext cx="242316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35000"/>
              </a:lnSpc>
            </a:pPr>
            <a:r>
              <a:rPr sz="1050" b="0" i="0">
                <a:solidFill>
                  <a:srgbClr val="1A1A1A"/>
                </a:solidFill>
                <a:latin typeface="Segoe UI"/>
              </a:rPr>
              <a:t>I consuntivi mensili si collocano in una fascia stretta di €10,9-11,7M di ricavi lordi. Nulla nell'andamento suggerisce un effetto di timing - il budget era semplicemente fissato ben al di sotto del run rate che l'azienda aveva già raggiunto nel 2025.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7772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A6FD6"/>
                </a:solidFill>
                <a:latin typeface="Consolas"/>
              </a:rPr>
              <a:t>ANALISI DEGLI SCOSTAMENTI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20624"/>
            <a:ext cx="8321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A1A1A"/>
                </a:solidFill>
                <a:latin typeface="Segoe UI"/>
              </a:rPr>
              <a:t>Ponte EBITDA: da budget a consuntivo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864608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595959"/>
                </a:solidFill>
                <a:latin typeface="Segoe UI"/>
              </a:rPr>
              <a:t>Caliman Advisory  |  Report Direzionale  |  Dati sintetici, progetto portfolio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486460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50" b="0" i="0">
                <a:solidFill>
                  <a:srgbClr val="595959"/>
                </a:solidFill>
                <a:latin typeface="Segoe UI"/>
              </a:rPr>
              <a:t>5</a:t>
            </a:r>
          </a:p>
        </p:txBody>
      </p:sp>
      <p:pic>
        <p:nvPicPr>
          <p:cNvPr id="7" name="Picture 6" descr="ebitda_bri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3040" y="914400"/>
            <a:ext cx="6637918" cy="3383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4370832"/>
            <a:ext cx="832104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1">
                <a:solidFill>
                  <a:srgbClr val="595959"/>
                </a:solidFill>
                <a:latin typeface="Segoe UI"/>
              </a:rPr>
              <a:t>€ migliaia. Le barre poggiano sul totale EBITDA progressivo, per cui un passaggio può attraversare lo zero; l'etichetta indica la variazione di quel passaggio, non il punto di arrivo. I ricavi spiegano gran parte del divario; gli OPEX ne restituiscono circa un terzo.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7772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A6FD6"/>
                </a:solidFill>
                <a:latin typeface="Consolas"/>
              </a:rPr>
              <a:t>ANALISI DEGLI SCOSTAMENTI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20624"/>
            <a:ext cx="8321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A1A1A"/>
                </a:solidFill>
                <a:latin typeface="Segoe UI"/>
              </a:rPr>
              <a:t>I costi operativi sono cresciuti con l'attività, €7,2M oltre il piano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864608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595959"/>
                </a:solidFill>
                <a:latin typeface="Segoe UI"/>
              </a:rPr>
              <a:t>Caliman Advisory  |  Report Direzionale  |  Dati sintetici, progetto portfolio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486460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50" b="0" i="0">
                <a:solidFill>
                  <a:srgbClr val="595959"/>
                </a:solidFill>
                <a:latin typeface="Segoe UI"/>
              </a:rPr>
              <a:t>6</a:t>
            </a:r>
          </a:p>
        </p:txBody>
      </p:sp>
      <p:pic>
        <p:nvPicPr>
          <p:cNvPr id="7" name="Picture 6" descr="opex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93077"/>
            <a:ext cx="5760720" cy="260880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55080" y="1005840"/>
            <a:ext cx="2423160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35000"/>
              </a:lnSpc>
            </a:pPr>
            <a:r>
              <a:rPr sz="1050" b="0" i="0">
                <a:solidFill>
                  <a:srgbClr val="1A1A1A"/>
                </a:solidFill>
                <a:latin typeface="Segoe UI"/>
              </a:rPr>
              <a:t>I costi operativi si sono mantenuti al 37,9% dei ricavi - sostanzialmente in linea con l'attività.
Retribuzioni, affitti e utenze rappresentano il 91% del totale dei costi operativi. Affitti e utenze sono normalmente semi-fissi e non dovrebbero scalare con i volumi come è avvenuto in questo caso.
Azione: approfondire le registrazioni di affitti e utenze.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7772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A6FD6"/>
                </a:solidFill>
                <a:latin typeface="Consolas"/>
              </a:rPr>
              <a:t>CONFRONTO ANNO PRECEDENTE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20624"/>
            <a:ext cx="8321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A1A1A"/>
                </a:solidFill>
                <a:latin typeface="Segoe UI"/>
              </a:rPr>
              <a:t>Dalla perdita all'utile, ora in continuità nel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864608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595959"/>
                </a:solidFill>
                <a:latin typeface="Segoe UI"/>
              </a:rPr>
              <a:t>Caliman Advisory  |  Report Direzionale  |  Dati sintetici, progetto portfolio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486460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50" b="0" i="0">
                <a:solidFill>
                  <a:srgbClr val="595959"/>
                </a:solidFill>
                <a:latin typeface="Segoe UI"/>
              </a:rPr>
              <a:t>7</a:t>
            </a:r>
          </a:p>
        </p:txBody>
      </p:sp>
      <p:pic>
        <p:nvPicPr>
          <p:cNvPr id="7" name="Picture 6" descr="multiyear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31545"/>
            <a:ext cx="5760720" cy="35318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355080" y="960120"/>
            <a:ext cx="2377440" cy="82296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355080" y="960120"/>
            <a:ext cx="2377440" cy="32004"/>
          </a:xfrm>
          <a:prstGeom prst="rect">
            <a:avLst/>
          </a:prstGeom>
          <a:solidFill>
            <a:srgbClr val="1A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83096" y="1088136"/>
            <a:ext cx="21214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A1A1A"/>
                </a:solidFill>
                <a:latin typeface="Consolas"/>
              </a:rPr>
              <a:t>+100,8%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3096" y="1444752"/>
            <a:ext cx="21214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A1A1A"/>
                </a:solidFill>
                <a:latin typeface="Segoe UI"/>
              </a:rPr>
              <a:t>RICAVI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3096" y="1691640"/>
            <a:ext cx="21214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55080" y="1892808"/>
            <a:ext cx="2377440" cy="82296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55080" y="1892808"/>
            <a:ext cx="2377440" cy="32004"/>
          </a:xfrm>
          <a:prstGeom prst="rect">
            <a:avLst/>
          </a:prstGeom>
          <a:solidFill>
            <a:srgbClr val="1A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3096" y="2020824"/>
            <a:ext cx="21214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A1A1A"/>
                </a:solidFill>
                <a:latin typeface="Consolas"/>
              </a:rPr>
              <a:t>+470,1%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3096" y="2377440"/>
            <a:ext cx="21214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A1A1A"/>
                </a:solidFill>
                <a:latin typeface="Segoe UI"/>
              </a:rPr>
              <a:t>EBITDA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3096" y="2624328"/>
            <a:ext cx="21214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55080" y="2825496"/>
            <a:ext cx="2377440" cy="82296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55080" y="2825496"/>
            <a:ext cx="2377440" cy="32004"/>
          </a:xfrm>
          <a:prstGeom prst="rect">
            <a:avLst/>
          </a:prstGeom>
          <a:solidFill>
            <a:srgbClr val="1A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83096" y="2953512"/>
            <a:ext cx="21214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A1A1A"/>
                </a:solidFill>
                <a:latin typeface="Consolas"/>
              </a:rPr>
              <a:t>+245,8%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3096" y="3310128"/>
            <a:ext cx="21214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A1A1A"/>
                </a:solidFill>
                <a:latin typeface="Segoe UI"/>
              </a:rPr>
              <a:t>UTILE NETTO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3096" y="3557015"/>
            <a:ext cx="21214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55080" y="3840480"/>
            <a:ext cx="24231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sz="950" b="0" i="0">
                <a:solidFill>
                  <a:srgbClr val="1A1A1A"/>
                </a:solidFill>
                <a:latin typeface="Segoe UI"/>
              </a:rPr>
              <a:t>Il 2023 e il 2024 sono stati anni in perdita; il 2025 è stata l'inversione di tendenza. I primi quattro mesi del 2026 rappresentano già il 46% dell'intero utile del 2025.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7772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A6FD6"/>
                </a:solidFill>
                <a:latin typeface="Consolas"/>
              </a:rPr>
              <a:t>STATO PATRIMONIALE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20624"/>
            <a:ext cx="8321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A1A1A"/>
                </a:solidFill>
                <a:latin typeface="Segoe UI"/>
              </a:rPr>
              <a:t>Posizione solida, un'anomalia e un punto di attenzione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864608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595959"/>
                </a:solidFill>
                <a:latin typeface="Segoe UI"/>
              </a:rPr>
              <a:t>Caliman Advisory  |  Report Direzionale  |  Dati sintetici, progetto portfolio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486460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50" b="0" i="0">
                <a:solidFill>
                  <a:srgbClr val="595959"/>
                </a:solidFill>
                <a:latin typeface="Segoe UI"/>
              </a:rPr>
              <a:t>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914400"/>
          <a:ext cx="56692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595959"/>
                          </a:solidFill>
                          <a:latin typeface="Consolas"/>
                        </a:rPr>
                        <a:t>€ MIGLIAIA</a:t>
                      </a:r>
                    </a:p>
                  </a:txBody>
                  <a:tcPr marL="50800" marR="50800" marT="25400" marB="25400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1">
                          <a:solidFill>
                            <a:srgbClr val="595959"/>
                          </a:solidFill>
                          <a:latin typeface="Consolas"/>
                        </a:rPr>
                        <a:t>30 APR 26</a:t>
                      </a:r>
                    </a:p>
                  </a:txBody>
                  <a:tcPr marL="50800" marR="50800" marT="25400" marB="25400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1">
                          <a:solidFill>
                            <a:srgbClr val="595959"/>
                          </a:solidFill>
                          <a:latin typeface="Consolas"/>
                        </a:rPr>
                        <a:t>31 DIC 25</a:t>
                      </a:r>
                    </a:p>
                  </a:txBody>
                  <a:tcPr marL="50800" marR="50800" marT="25400" marB="25400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1">
                          <a:solidFill>
                            <a:srgbClr val="595959"/>
                          </a:solidFill>
                          <a:latin typeface="Consolas"/>
                        </a:rPr>
                        <a:t>VARIAZIONE</a:t>
                      </a:r>
                    </a:p>
                  </a:txBody>
                  <a:tcPr marL="50800" marR="50800" marT="25400" marB="25400">
                    <a:solidFill>
                      <a:srgbClr val="F6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Cassa e disponibilità liquide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onsolas"/>
                        </a:rPr>
                        <a:t>1.623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onsolas"/>
                        </a:rPr>
                        <a:t>1.675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DC2626"/>
                          </a:solidFill>
                          <a:latin typeface="Consolas"/>
                        </a:rPr>
                        <a:t>(53)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Crediti verso clienti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onsolas"/>
                        </a:rPr>
                        <a:t>48.685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onsolas"/>
                        </a:rPr>
                        <a:t>21.000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onsolas"/>
                        </a:rPr>
                        <a:t>27.685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Magazzino (!)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DC2626"/>
                          </a:solidFill>
                          <a:latin typeface="Consolas"/>
                        </a:rPr>
                        <a:t>(7.868)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onsolas"/>
                        </a:rPr>
                        <a:t>8.000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DC2626"/>
                          </a:solidFill>
                          <a:latin typeface="Consolas"/>
                        </a:rPr>
                        <a:t>(15.868)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Risconti attivi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onsolas"/>
                        </a:rPr>
                        <a:t>280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onsolas"/>
                        </a:rPr>
                        <a:t>280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Segoe UI"/>
                        </a:rPr>
                        <a:t>Attivo corrente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1A1A"/>
                          </a:solidFill>
                          <a:latin typeface="Consolas"/>
                        </a:rPr>
                        <a:t>42.720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1A1A"/>
                          </a:solidFill>
                          <a:latin typeface="Consolas"/>
                        </a:rPr>
                        <a:t>30.955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1A1A"/>
                          </a:solidFill>
                          <a:latin typeface="Consolas"/>
                        </a:rPr>
                        <a:t>11.764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Attivo non corrente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onsolas"/>
                        </a:rPr>
                        <a:t>54.691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onsolas"/>
                        </a:rPr>
                        <a:t>54.800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DC2626"/>
                          </a:solidFill>
                          <a:latin typeface="Consolas"/>
                        </a:rPr>
                        <a:t>(109)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Segoe UI"/>
                        </a:rPr>
                        <a:t>Totale attivo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1A1A"/>
                          </a:solidFill>
                          <a:latin typeface="Consolas"/>
                        </a:rPr>
                        <a:t>97.410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1A1A"/>
                          </a:solidFill>
                          <a:latin typeface="Consolas"/>
                        </a:rPr>
                        <a:t>85.755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1A1A"/>
                          </a:solidFill>
                          <a:latin typeface="Consolas"/>
                        </a:rPr>
                        <a:t>11.655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Segoe UI"/>
                        </a:rPr>
                        <a:t>Totale passivo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1A1A"/>
                          </a:solidFill>
                          <a:latin typeface="Consolas"/>
                        </a:rPr>
                        <a:t>41.198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1A1A"/>
                          </a:solidFill>
                          <a:latin typeface="Consolas"/>
                        </a:rPr>
                        <a:t>38.054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1A1A"/>
                          </a:solidFill>
                          <a:latin typeface="Consolas"/>
                        </a:rPr>
                        <a:t>3.144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Segoe UI"/>
                        </a:rPr>
                        <a:t>Patrimonio netto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1A1A"/>
                          </a:solidFill>
                          <a:latin typeface="Consolas"/>
                        </a:rPr>
                        <a:t>56.212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1A1A"/>
                          </a:solidFill>
                          <a:latin typeface="Consolas"/>
                        </a:rPr>
                        <a:t>47.702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1A1A"/>
                          </a:solidFill>
                          <a:latin typeface="Consolas"/>
                        </a:rPr>
                        <a:t>8.511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355080" y="960120"/>
            <a:ext cx="2377440" cy="86868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355080" y="960120"/>
            <a:ext cx="2377440" cy="32004"/>
          </a:xfrm>
          <a:prstGeom prst="rect">
            <a:avLst/>
          </a:prstGeom>
          <a:solidFill>
            <a:srgbClr val="1A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83096" y="1088136"/>
            <a:ext cx="21214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A1A1A"/>
                </a:solidFill>
                <a:latin typeface="Consolas"/>
              </a:rPr>
              <a:t>1,59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3096" y="1444752"/>
            <a:ext cx="2121408" cy="1536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it-IT" sz="950" b="1" i="0" dirty="0">
                <a:solidFill>
                  <a:srgbClr val="1A1A1A"/>
                </a:solidFill>
                <a:latin typeface="Segoe UI"/>
              </a:rPr>
              <a:t>INDICE DI LIQUIDITÀ CORRENTE</a:t>
            </a:r>
            <a:endParaRPr sz="950" b="1" i="0" dirty="0">
              <a:solidFill>
                <a:srgbClr val="1A1A1A"/>
              </a:solidFill>
              <a:latin typeface="Segoe U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83096" y="1691640"/>
            <a:ext cx="21214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1A6FD6"/>
                </a:solidFill>
                <a:latin typeface="Consolas"/>
              </a:rPr>
              <a:t>da 1,31, migliorato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1920240"/>
            <a:ext cx="2377440" cy="86868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55080" y="1920240"/>
            <a:ext cx="2377440" cy="32004"/>
          </a:xfrm>
          <a:prstGeom prst="rect">
            <a:avLst/>
          </a:prstGeom>
          <a:solidFill>
            <a:srgbClr val="1A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3096" y="2048256"/>
            <a:ext cx="21214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A1A1A"/>
                </a:solidFill>
                <a:latin typeface="Consolas"/>
              </a:rPr>
              <a:t>0,73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3096" y="2404872"/>
            <a:ext cx="21214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A1A1A"/>
                </a:solidFill>
                <a:latin typeface="Segoe UI"/>
              </a:rPr>
              <a:t>DEBITO/PATRIMONIO NETTO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3096" y="2651760"/>
            <a:ext cx="21214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1A6FD6"/>
                </a:solidFill>
                <a:latin typeface="Consolas"/>
              </a:rPr>
              <a:t>da 0,80, migliorato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971800"/>
            <a:ext cx="242316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sz="900" b="0" i="0">
                <a:solidFill>
                  <a:srgbClr val="1A1A1A"/>
                </a:solidFill>
                <a:latin typeface="Segoe UI"/>
              </a:rPr>
              <a:t>(!) Il magazzino è negativo nel libro mastro ad aprile 2026 (era positivo a fine 2025) - un'anomalia reale dei dati, mostrata con il segno reale anziché mascherata.
I crediti verso clienti sono quasi raddoppiati - il principale punto di attenzione sulla conversione in cassa.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7772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A6FD6"/>
                </a:solidFill>
                <a:latin typeface="Consolas"/>
              </a:rPr>
              <a:t>RENDICONTO FINANZIARIO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20624"/>
            <a:ext cx="8321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A1A1A"/>
                </a:solidFill>
                <a:latin typeface="Segoe UI"/>
              </a:rPr>
              <a:t>La gestione operativa autofinanzia la crescita in questo periodo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864608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595959"/>
                </a:solidFill>
                <a:latin typeface="Segoe UI"/>
              </a:rPr>
              <a:t>Caliman Advisory  |  Report Direzionale  |  Dati sintetici, progetto portfolio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486460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50" b="0" i="0">
                <a:solidFill>
                  <a:srgbClr val="595959"/>
                </a:solidFill>
                <a:latin typeface="Segoe UI"/>
              </a:rPr>
              <a:t>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914400"/>
          <a:ext cx="420624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595959"/>
                          </a:solidFill>
                          <a:latin typeface="Consolas"/>
                        </a:rPr>
                        <a:t>€ MIGLIAIA</a:t>
                      </a:r>
                    </a:p>
                  </a:txBody>
                  <a:tcPr marL="50800" marR="50800" marT="25400" marB="25400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595959"/>
                          </a:solidFill>
                          <a:latin typeface="Consolas"/>
                        </a:rPr>
                        <a:t>YTD APR 2026</a:t>
                      </a:r>
                    </a:p>
                  </a:txBody>
                  <a:tcPr marL="50800" marR="50800" marT="25400" marB="25400">
                    <a:solidFill>
                      <a:srgbClr val="F6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Segoe UI"/>
                        </a:rPr>
                        <a:t>Utile netto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Consolas"/>
                        </a:rPr>
                        <a:t>3.000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Segoe UI"/>
                        </a:rPr>
                        <a:t>Ammortamenti (rettifica non monetaria)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Consolas"/>
                        </a:rPr>
                        <a:t>3.253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Segoe UI"/>
                        </a:rPr>
                        <a:t>Capitale circolante e altro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DC2626"/>
                          </a:solidFill>
                          <a:latin typeface="Consolas"/>
                        </a:rPr>
                        <a:t>(586)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Segoe UI"/>
                        </a:rPr>
                        <a:t>Flusso di cassa dalla gestione operativa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A1A1A"/>
                          </a:solidFill>
                          <a:latin typeface="Consolas"/>
                        </a:rPr>
                        <a:t>5.667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Segoe UI"/>
                        </a:rPr>
                        <a:t>Attività di investimento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DC2626"/>
                          </a:solidFill>
                          <a:latin typeface="Consolas"/>
                        </a:rPr>
                        <a:t>(100)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Segoe UI"/>
                        </a:rPr>
                        <a:t>Attività di finanziamento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DC2626"/>
                          </a:solidFill>
                          <a:latin typeface="Consolas"/>
                        </a:rPr>
                        <a:t>(238)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Segoe UI"/>
                        </a:rPr>
                        <a:t>Variazione netta di cassa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A1A1A"/>
                          </a:solidFill>
                          <a:latin typeface="Consolas"/>
                        </a:rPr>
                        <a:t>5.330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Segoe UI"/>
                        </a:rPr>
                        <a:t>Flusso di cassa libero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A1A1A"/>
                          </a:solidFill>
                          <a:latin typeface="Consolas"/>
                        </a:rPr>
                        <a:t>5.567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846320" y="1005840"/>
            <a:ext cx="3840480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35000"/>
              </a:lnSpc>
            </a:pPr>
            <a:r>
              <a:rPr sz="1050" b="0" i="0" dirty="0">
                <a:solidFill>
                  <a:srgbClr val="1A1A1A"/>
                </a:solidFill>
                <a:latin typeface="Segoe UI"/>
              </a:rPr>
              <a:t>Il </a:t>
            </a:r>
            <a:r>
              <a:rPr sz="1050" b="0" i="0" dirty="0" err="1">
                <a:solidFill>
                  <a:srgbClr val="1A1A1A"/>
                </a:solidFill>
                <a:latin typeface="Segoe UI"/>
              </a:rPr>
              <a:t>flusso</a:t>
            </a:r>
            <a:r>
              <a:rPr sz="1050" b="0" i="0" dirty="0">
                <a:solidFill>
                  <a:srgbClr val="1A1A1A"/>
                </a:solidFill>
                <a:latin typeface="Segoe UI"/>
              </a:rPr>
              <a:t> di </a:t>
            </a:r>
            <a:r>
              <a:rPr sz="1050" b="0" i="0" dirty="0" err="1">
                <a:solidFill>
                  <a:srgbClr val="1A1A1A"/>
                </a:solidFill>
                <a:latin typeface="Segoe UI"/>
              </a:rPr>
              <a:t>cassa</a:t>
            </a:r>
            <a:r>
              <a:rPr sz="1050" b="0" i="0" dirty="0">
                <a:solidFill>
                  <a:srgbClr val="1A1A1A"/>
                </a:solidFill>
                <a:latin typeface="Segoe UI"/>
              </a:rPr>
              <a:t> </a:t>
            </a:r>
            <a:r>
              <a:rPr sz="1050" b="0" i="0" dirty="0" err="1">
                <a:solidFill>
                  <a:srgbClr val="1A1A1A"/>
                </a:solidFill>
                <a:latin typeface="Segoe UI"/>
              </a:rPr>
              <a:t>operativo</a:t>
            </a:r>
            <a:r>
              <a:rPr sz="1050" b="0" i="0" dirty="0">
                <a:solidFill>
                  <a:srgbClr val="1A1A1A"/>
                </a:solidFill>
                <a:latin typeface="Segoe UI"/>
              </a:rPr>
              <a:t> di €5,7M </a:t>
            </a:r>
            <a:r>
              <a:rPr sz="1050" b="0" i="0" dirty="0" err="1">
                <a:solidFill>
                  <a:srgbClr val="1A1A1A"/>
                </a:solidFill>
                <a:latin typeface="Segoe UI"/>
              </a:rPr>
              <a:t>supera</a:t>
            </a:r>
            <a:r>
              <a:rPr sz="1050" b="0" i="0" dirty="0">
                <a:solidFill>
                  <a:srgbClr val="1A1A1A"/>
                </a:solidFill>
                <a:latin typeface="Segoe UI"/>
              </a:rPr>
              <a:t> </a:t>
            </a:r>
            <a:r>
              <a:rPr sz="1050" b="0" i="0" dirty="0" err="1">
                <a:solidFill>
                  <a:srgbClr val="1A1A1A"/>
                </a:solidFill>
                <a:latin typeface="Segoe UI"/>
              </a:rPr>
              <a:t>ampiamente</a:t>
            </a:r>
            <a:r>
              <a:rPr sz="1050" b="0" i="0" dirty="0">
                <a:solidFill>
                  <a:srgbClr val="1A1A1A"/>
                </a:solidFill>
                <a:latin typeface="Segoe UI"/>
              </a:rPr>
              <a:t> </a:t>
            </a:r>
            <a:r>
              <a:rPr sz="1050" b="0" i="0" dirty="0" err="1">
                <a:solidFill>
                  <a:srgbClr val="1A1A1A"/>
                </a:solidFill>
                <a:latin typeface="Segoe UI"/>
              </a:rPr>
              <a:t>l'utile</a:t>
            </a:r>
            <a:r>
              <a:rPr sz="1050" b="0" i="0" dirty="0">
                <a:solidFill>
                  <a:srgbClr val="1A1A1A"/>
                </a:solidFill>
                <a:latin typeface="Segoe UI"/>
              </a:rPr>
              <a:t> </a:t>
            </a:r>
            <a:r>
              <a:rPr sz="1050" b="0" i="0" dirty="0" err="1">
                <a:solidFill>
                  <a:srgbClr val="1A1A1A"/>
                </a:solidFill>
                <a:latin typeface="Segoe UI"/>
              </a:rPr>
              <a:t>netto</a:t>
            </a:r>
            <a:r>
              <a:rPr sz="1050" b="0" i="0" dirty="0">
                <a:solidFill>
                  <a:srgbClr val="1A1A1A"/>
                </a:solidFill>
                <a:latin typeface="Segoe UI"/>
              </a:rPr>
              <a:t> di €3,0M </a:t>
            </a:r>
            <a:r>
              <a:rPr sz="1050" b="0" i="0" dirty="0" err="1">
                <a:solidFill>
                  <a:srgbClr val="1A1A1A"/>
                </a:solidFill>
                <a:latin typeface="Segoe UI"/>
              </a:rPr>
              <a:t>grazie</a:t>
            </a:r>
            <a:r>
              <a:rPr sz="1050" b="0" i="0" dirty="0">
                <a:solidFill>
                  <a:srgbClr val="1A1A1A"/>
                </a:solidFill>
                <a:latin typeface="Segoe UI"/>
              </a:rPr>
              <a:t> al </a:t>
            </a:r>
            <a:r>
              <a:rPr sz="1050" b="0" i="0" dirty="0" err="1">
                <a:solidFill>
                  <a:srgbClr val="1A1A1A"/>
                </a:solidFill>
                <a:latin typeface="Segoe UI"/>
              </a:rPr>
              <a:t>reintegro</a:t>
            </a:r>
            <a:r>
              <a:rPr sz="1050" b="0" i="0" dirty="0">
                <a:solidFill>
                  <a:srgbClr val="1A1A1A"/>
                </a:solidFill>
                <a:latin typeface="Segoe UI"/>
              </a:rPr>
              <a:t> per </a:t>
            </a:r>
            <a:r>
              <a:rPr sz="1050" b="0" i="0" dirty="0" err="1">
                <a:solidFill>
                  <a:srgbClr val="1A1A1A"/>
                </a:solidFill>
                <a:latin typeface="Segoe UI"/>
              </a:rPr>
              <a:t>ammortamenti</a:t>
            </a:r>
            <a:r>
              <a:rPr sz="1050" b="0" i="0" dirty="0">
                <a:solidFill>
                  <a:srgbClr val="1A1A1A"/>
                </a:solidFill>
                <a:latin typeface="Segoe UI"/>
              </a:rPr>
              <a:t>. </a:t>
            </a:r>
            <a:r>
              <a:rPr sz="1050" b="0" i="0" dirty="0" err="1">
                <a:solidFill>
                  <a:srgbClr val="1A1A1A"/>
                </a:solidFill>
                <a:latin typeface="Segoe UI"/>
              </a:rPr>
              <a:t>L'attività</a:t>
            </a:r>
            <a:r>
              <a:rPr sz="1050" b="0" i="0" dirty="0">
                <a:solidFill>
                  <a:srgbClr val="1A1A1A"/>
                </a:solidFill>
                <a:latin typeface="Segoe UI"/>
              </a:rPr>
              <a:t> di </a:t>
            </a:r>
            <a:r>
              <a:rPr sz="1050" b="0" i="0" dirty="0" err="1">
                <a:solidFill>
                  <a:srgbClr val="1A1A1A"/>
                </a:solidFill>
                <a:latin typeface="Segoe UI"/>
              </a:rPr>
              <a:t>investimento</a:t>
            </a:r>
            <a:r>
              <a:rPr sz="1050" b="0" i="0" dirty="0">
                <a:solidFill>
                  <a:srgbClr val="1A1A1A"/>
                </a:solidFill>
                <a:latin typeface="Segoe UI"/>
              </a:rPr>
              <a:t> è </a:t>
            </a:r>
            <a:r>
              <a:rPr sz="1050" b="0" i="0" dirty="0" err="1">
                <a:solidFill>
                  <a:srgbClr val="1A1A1A"/>
                </a:solidFill>
                <a:latin typeface="Segoe UI"/>
              </a:rPr>
              <a:t>stata</a:t>
            </a:r>
            <a:r>
              <a:rPr sz="1050" b="0" i="0" dirty="0">
                <a:solidFill>
                  <a:srgbClr val="1A1A1A"/>
                </a:solidFill>
                <a:latin typeface="Segoe UI"/>
              </a:rPr>
              <a:t> minima; </a:t>
            </a:r>
            <a:r>
              <a:rPr sz="1050" b="0" i="0" dirty="0" err="1">
                <a:solidFill>
                  <a:srgbClr val="1A1A1A"/>
                </a:solidFill>
                <a:latin typeface="Segoe UI"/>
              </a:rPr>
              <a:t>i</a:t>
            </a:r>
            <a:r>
              <a:rPr sz="1050" b="0" i="0" dirty="0">
                <a:solidFill>
                  <a:srgbClr val="1A1A1A"/>
                </a:solidFill>
                <a:latin typeface="Segoe UI"/>
              </a:rPr>
              <a:t> </a:t>
            </a:r>
            <a:r>
              <a:rPr sz="1050" b="0" i="0" dirty="0" err="1">
                <a:solidFill>
                  <a:srgbClr val="1A1A1A"/>
                </a:solidFill>
                <a:latin typeface="Segoe UI"/>
              </a:rPr>
              <a:t>flussi</a:t>
            </a:r>
            <a:r>
              <a:rPr sz="1050" b="0" i="0" dirty="0">
                <a:solidFill>
                  <a:srgbClr val="1A1A1A"/>
                </a:solidFill>
                <a:latin typeface="Segoe UI"/>
              </a:rPr>
              <a:t> di </a:t>
            </a:r>
            <a:r>
              <a:rPr sz="1050" b="0" i="0" dirty="0" err="1">
                <a:solidFill>
                  <a:srgbClr val="1A1A1A"/>
                </a:solidFill>
                <a:latin typeface="Segoe UI"/>
              </a:rPr>
              <a:t>finanziamento</a:t>
            </a:r>
            <a:r>
              <a:rPr sz="1050" b="0" i="0" dirty="0">
                <a:solidFill>
                  <a:srgbClr val="1A1A1A"/>
                </a:solidFill>
                <a:latin typeface="Segoe UI"/>
              </a:rPr>
              <a:t> </a:t>
            </a:r>
            <a:r>
              <a:rPr sz="1050" b="0" i="0" dirty="0" err="1">
                <a:solidFill>
                  <a:srgbClr val="1A1A1A"/>
                </a:solidFill>
                <a:latin typeface="Segoe UI"/>
              </a:rPr>
              <a:t>sono</a:t>
            </a:r>
            <a:r>
              <a:rPr sz="1050" b="0" i="0" dirty="0">
                <a:solidFill>
                  <a:srgbClr val="1A1A1A"/>
                </a:solidFill>
                <a:latin typeface="Segoe UI"/>
              </a:rPr>
              <a:t> </a:t>
            </a:r>
            <a:r>
              <a:rPr sz="1050" b="0" i="0" dirty="0" err="1">
                <a:solidFill>
                  <a:srgbClr val="1A1A1A"/>
                </a:solidFill>
                <a:latin typeface="Segoe UI"/>
              </a:rPr>
              <a:t>stati</a:t>
            </a:r>
            <a:r>
              <a:rPr sz="1050" b="0" i="0" dirty="0">
                <a:solidFill>
                  <a:srgbClr val="1A1A1A"/>
                </a:solidFill>
                <a:latin typeface="Segoe UI"/>
              </a:rPr>
              <a:t> </a:t>
            </a:r>
            <a:r>
              <a:rPr sz="1050" b="0" i="0" dirty="0" err="1">
                <a:solidFill>
                  <a:srgbClr val="1A1A1A"/>
                </a:solidFill>
                <a:latin typeface="Segoe UI"/>
              </a:rPr>
              <a:t>prossimi</a:t>
            </a:r>
            <a:r>
              <a:rPr sz="1050" b="0" i="0" dirty="0">
                <a:solidFill>
                  <a:srgbClr val="1A1A1A"/>
                </a:solidFill>
                <a:latin typeface="Segoe UI"/>
              </a:rPr>
              <a:t> </a:t>
            </a:r>
            <a:r>
              <a:rPr sz="1050" b="0" i="0" dirty="0" err="1">
                <a:solidFill>
                  <a:srgbClr val="1A1A1A"/>
                </a:solidFill>
                <a:latin typeface="Segoe UI"/>
              </a:rPr>
              <a:t>allo</a:t>
            </a:r>
            <a:r>
              <a:rPr sz="1050" b="0" i="0" dirty="0">
                <a:solidFill>
                  <a:srgbClr val="1A1A1A"/>
                </a:solidFill>
                <a:latin typeface="Segoe UI"/>
              </a:rPr>
              <a:t> zero. La </a:t>
            </a:r>
            <a:r>
              <a:rPr sz="1050" b="0" i="0" dirty="0" err="1">
                <a:solidFill>
                  <a:srgbClr val="1A1A1A"/>
                </a:solidFill>
                <a:latin typeface="Segoe UI"/>
              </a:rPr>
              <a:t>crescita</a:t>
            </a:r>
            <a:r>
              <a:rPr sz="1050" b="0" i="0" dirty="0">
                <a:solidFill>
                  <a:srgbClr val="1A1A1A"/>
                </a:solidFill>
                <a:latin typeface="Segoe UI"/>
              </a:rPr>
              <a:t> del </a:t>
            </a:r>
            <a:r>
              <a:rPr sz="1050" b="0" i="0" dirty="0" err="1">
                <a:solidFill>
                  <a:srgbClr val="1A1A1A"/>
                </a:solidFill>
                <a:latin typeface="Segoe UI"/>
              </a:rPr>
              <a:t>periodo</a:t>
            </a:r>
            <a:r>
              <a:rPr sz="1050" b="0" i="0" dirty="0">
                <a:solidFill>
                  <a:srgbClr val="1A1A1A"/>
                </a:solidFill>
                <a:latin typeface="Segoe UI"/>
              </a:rPr>
              <a:t> è </a:t>
            </a:r>
            <a:r>
              <a:rPr sz="1050" b="0" i="0" dirty="0" err="1">
                <a:solidFill>
                  <a:srgbClr val="1A1A1A"/>
                </a:solidFill>
                <a:latin typeface="Segoe UI"/>
              </a:rPr>
              <a:t>ampiamente</a:t>
            </a:r>
            <a:r>
              <a:rPr sz="1050" b="0" i="0" dirty="0">
                <a:solidFill>
                  <a:srgbClr val="1A1A1A"/>
                </a:solidFill>
                <a:latin typeface="Segoe UI"/>
              </a:rPr>
              <a:t> </a:t>
            </a:r>
            <a:r>
              <a:rPr sz="1050" b="0" i="0" dirty="0" err="1">
                <a:solidFill>
                  <a:srgbClr val="1A1A1A"/>
                </a:solidFill>
                <a:latin typeface="Segoe UI"/>
              </a:rPr>
              <a:t>autofinanziata</a:t>
            </a:r>
            <a:r>
              <a:rPr sz="1050" b="0" i="0" dirty="0">
                <a:solidFill>
                  <a:srgbClr val="1A1A1A"/>
                </a:solidFill>
                <a:latin typeface="Segoe UI"/>
              </a:rPr>
              <a:t> </a:t>
            </a:r>
            <a:r>
              <a:rPr sz="1050" b="0" i="0" dirty="0" err="1">
                <a:solidFill>
                  <a:srgbClr val="1A1A1A"/>
                </a:solidFill>
                <a:latin typeface="Segoe UI"/>
              </a:rPr>
              <a:t>dalla</a:t>
            </a:r>
            <a:r>
              <a:rPr sz="1050" b="0" i="0" dirty="0">
                <a:solidFill>
                  <a:srgbClr val="1A1A1A"/>
                </a:solidFill>
                <a:latin typeface="Segoe UI"/>
              </a:rPr>
              <a:t> </a:t>
            </a:r>
            <a:r>
              <a:rPr sz="1050" b="0" i="0" dirty="0" err="1">
                <a:solidFill>
                  <a:srgbClr val="1A1A1A"/>
                </a:solidFill>
                <a:latin typeface="Segoe UI"/>
              </a:rPr>
              <a:t>gestione</a:t>
            </a:r>
            <a:r>
              <a:rPr sz="1050" b="0" i="0" dirty="0">
                <a:solidFill>
                  <a:srgbClr val="1A1A1A"/>
                </a:solidFill>
                <a:latin typeface="Segoe UI"/>
              </a:rPr>
              <a:t> </a:t>
            </a:r>
            <a:r>
              <a:rPr sz="1050" b="0" i="0" dirty="0" err="1">
                <a:solidFill>
                  <a:srgbClr val="1A1A1A"/>
                </a:solidFill>
                <a:latin typeface="Segoe UI"/>
              </a:rPr>
              <a:t>operativa</a:t>
            </a:r>
            <a:r>
              <a:rPr sz="1050" b="0" i="0" dirty="0">
                <a:solidFill>
                  <a:srgbClr val="1A1A1A"/>
                </a:solidFill>
                <a:latin typeface="Segoe UI"/>
              </a:rPr>
              <a:t>.
Nota: il </a:t>
            </a:r>
            <a:r>
              <a:rPr sz="1050" b="0" i="0" dirty="0" err="1">
                <a:solidFill>
                  <a:srgbClr val="1A1A1A"/>
                </a:solidFill>
                <a:latin typeface="Segoe UI"/>
              </a:rPr>
              <a:t>rendiconto</a:t>
            </a:r>
            <a:r>
              <a:rPr sz="1050" b="0" i="0" dirty="0">
                <a:solidFill>
                  <a:srgbClr val="1A1A1A"/>
                </a:solidFill>
                <a:latin typeface="Segoe UI"/>
              </a:rPr>
              <a:t> </a:t>
            </a:r>
            <a:r>
              <a:rPr sz="1050" b="0" i="0" dirty="0" err="1">
                <a:solidFill>
                  <a:srgbClr val="1A1A1A"/>
                </a:solidFill>
                <a:latin typeface="Segoe UI"/>
              </a:rPr>
              <a:t>finanziario</a:t>
            </a:r>
            <a:r>
              <a:rPr sz="1050" b="0" i="0" dirty="0">
                <a:solidFill>
                  <a:srgbClr val="1A1A1A"/>
                </a:solidFill>
                <a:latin typeface="Segoe UI"/>
              </a:rPr>
              <a:t> è </a:t>
            </a:r>
            <a:r>
              <a:rPr sz="1050" b="0" i="0" dirty="0" err="1">
                <a:solidFill>
                  <a:srgbClr val="1A1A1A"/>
                </a:solidFill>
                <a:latin typeface="Segoe UI"/>
              </a:rPr>
              <a:t>internamente</a:t>
            </a:r>
            <a:r>
              <a:rPr sz="1050" b="0" i="0" dirty="0">
                <a:solidFill>
                  <a:srgbClr val="1A1A1A"/>
                </a:solidFill>
                <a:latin typeface="Segoe UI"/>
              </a:rPr>
              <a:t> </a:t>
            </a:r>
            <a:r>
              <a:rPr sz="1050" b="0" i="0" dirty="0" err="1">
                <a:solidFill>
                  <a:srgbClr val="1A1A1A"/>
                </a:solidFill>
                <a:latin typeface="Segoe UI"/>
              </a:rPr>
              <a:t>coerente</a:t>
            </a:r>
            <a:r>
              <a:rPr sz="1050" b="0" i="0" dirty="0">
                <a:solidFill>
                  <a:srgbClr val="1A1A1A"/>
                </a:solidFill>
                <a:latin typeface="Segoe UI"/>
              </a:rPr>
              <a:t>, ma la </a:t>
            </a:r>
            <a:r>
              <a:rPr sz="1050" b="0" i="0" dirty="0" err="1">
                <a:solidFill>
                  <a:srgbClr val="1A1A1A"/>
                </a:solidFill>
                <a:latin typeface="Segoe UI"/>
              </a:rPr>
              <a:t>cassa</a:t>
            </a:r>
            <a:r>
              <a:rPr sz="1050" b="0" i="0" dirty="0">
                <a:solidFill>
                  <a:srgbClr val="1A1A1A"/>
                </a:solidFill>
                <a:latin typeface="Segoe UI"/>
              </a:rPr>
              <a:t> di </a:t>
            </a:r>
            <a:r>
              <a:rPr sz="1050" b="0" i="0" dirty="0" err="1">
                <a:solidFill>
                  <a:srgbClr val="1A1A1A"/>
                </a:solidFill>
                <a:latin typeface="Segoe UI"/>
              </a:rPr>
              <a:t>chiusura</a:t>
            </a:r>
            <a:r>
              <a:rPr sz="1050" b="0" i="0" dirty="0">
                <a:solidFill>
                  <a:srgbClr val="1A1A1A"/>
                </a:solidFill>
                <a:latin typeface="Segoe UI"/>
              </a:rPr>
              <a:t> non quadra </a:t>
            </a:r>
            <a:r>
              <a:rPr sz="1050" b="0" i="0" dirty="0" err="1">
                <a:solidFill>
                  <a:srgbClr val="1A1A1A"/>
                </a:solidFill>
                <a:latin typeface="Segoe UI"/>
              </a:rPr>
              <a:t>attualmente</a:t>
            </a:r>
            <a:r>
              <a:rPr sz="1050" b="0" i="0" dirty="0">
                <a:solidFill>
                  <a:srgbClr val="1A1A1A"/>
                </a:solidFill>
                <a:latin typeface="Segoe UI"/>
              </a:rPr>
              <a:t> con la voce di </a:t>
            </a:r>
            <a:r>
              <a:rPr sz="1050" b="0" i="0" dirty="0" err="1">
                <a:solidFill>
                  <a:srgbClr val="1A1A1A"/>
                </a:solidFill>
                <a:latin typeface="Segoe UI"/>
              </a:rPr>
              <a:t>cassa</a:t>
            </a:r>
            <a:r>
              <a:rPr sz="1050" b="0" i="0" dirty="0">
                <a:solidFill>
                  <a:srgbClr val="1A1A1A"/>
                </a:solidFill>
                <a:latin typeface="Segoe UI"/>
              </a:rPr>
              <a:t> </a:t>
            </a:r>
            <a:r>
              <a:rPr sz="1050" b="0" i="0" dirty="0" err="1">
                <a:solidFill>
                  <a:srgbClr val="1A1A1A"/>
                </a:solidFill>
                <a:latin typeface="Segoe UI"/>
              </a:rPr>
              <a:t>dello</a:t>
            </a:r>
            <a:r>
              <a:rPr sz="1050" b="0" i="0" dirty="0">
                <a:solidFill>
                  <a:srgbClr val="1A1A1A"/>
                </a:solidFill>
                <a:latin typeface="Segoe UI"/>
              </a:rPr>
              <a:t> </a:t>
            </a:r>
            <a:r>
              <a:rPr sz="1050" b="0" i="0" dirty="0" err="1">
                <a:solidFill>
                  <a:srgbClr val="1A1A1A"/>
                </a:solidFill>
                <a:latin typeface="Segoe UI"/>
              </a:rPr>
              <a:t>stato</a:t>
            </a:r>
            <a:r>
              <a:rPr sz="1050" b="0" i="0" dirty="0">
                <a:solidFill>
                  <a:srgbClr val="1A1A1A"/>
                </a:solidFill>
                <a:latin typeface="Segoe UI"/>
              </a:rPr>
              <a:t> </a:t>
            </a:r>
            <a:r>
              <a:rPr sz="1050" b="0" i="0" dirty="0" err="1">
                <a:solidFill>
                  <a:srgbClr val="1A1A1A"/>
                </a:solidFill>
                <a:latin typeface="Segoe UI"/>
              </a:rPr>
              <a:t>patrimoniale</a:t>
            </a:r>
            <a:r>
              <a:rPr sz="1050" b="0" i="0" dirty="0">
                <a:solidFill>
                  <a:srgbClr val="1A1A1A"/>
                </a:solidFill>
                <a:latin typeface="Segoe UI"/>
              </a:rPr>
              <a:t> - uno </a:t>
            </a:r>
            <a:r>
              <a:rPr sz="1050" b="0" i="0" dirty="0" err="1">
                <a:solidFill>
                  <a:srgbClr val="1A1A1A"/>
                </a:solidFill>
                <a:latin typeface="Segoe UI"/>
              </a:rPr>
              <a:t>scostamento</a:t>
            </a:r>
            <a:r>
              <a:rPr sz="1050" b="0" i="0" dirty="0">
                <a:solidFill>
                  <a:srgbClr val="1A1A1A"/>
                </a:solidFill>
                <a:latin typeface="Segoe UI"/>
              </a:rPr>
              <a:t> di €3,8M </a:t>
            </a:r>
            <a:r>
              <a:rPr sz="1050" b="0" i="0" dirty="0" err="1">
                <a:solidFill>
                  <a:srgbClr val="1A1A1A"/>
                </a:solidFill>
                <a:latin typeface="Segoe UI"/>
              </a:rPr>
              <a:t>tra</a:t>
            </a:r>
            <a:r>
              <a:rPr sz="1050" b="0" i="0" dirty="0">
                <a:solidFill>
                  <a:srgbClr val="1A1A1A"/>
                </a:solidFill>
                <a:latin typeface="Segoe UI"/>
              </a:rPr>
              <a:t> due </a:t>
            </a:r>
            <a:r>
              <a:rPr sz="1050" b="0" i="0" dirty="0" err="1">
                <a:solidFill>
                  <a:srgbClr val="1A1A1A"/>
                </a:solidFill>
                <a:latin typeface="Segoe UI"/>
              </a:rPr>
              <a:t>percorsi</a:t>
            </a:r>
            <a:r>
              <a:rPr sz="1050" b="0" i="0" dirty="0">
                <a:solidFill>
                  <a:srgbClr val="1A1A1A"/>
                </a:solidFill>
                <a:latin typeface="Segoe UI"/>
              </a:rPr>
              <a:t> di </a:t>
            </a:r>
            <a:r>
              <a:rPr sz="1050" b="0" i="0" dirty="0" err="1">
                <a:solidFill>
                  <a:srgbClr val="1A1A1A"/>
                </a:solidFill>
                <a:latin typeface="Segoe UI"/>
              </a:rPr>
              <a:t>calcolo</a:t>
            </a:r>
            <a:r>
              <a:rPr sz="1050" b="0" i="0" dirty="0">
                <a:solidFill>
                  <a:srgbClr val="1A1A1A"/>
                </a:solidFill>
                <a:latin typeface="Segoe UI"/>
              </a:rPr>
              <a:t> </a:t>
            </a:r>
            <a:r>
              <a:rPr sz="1050" b="0" i="0" dirty="0" err="1">
                <a:solidFill>
                  <a:srgbClr val="1A1A1A"/>
                </a:solidFill>
                <a:latin typeface="Segoe UI"/>
              </a:rPr>
              <a:t>nel</a:t>
            </a:r>
            <a:r>
              <a:rPr sz="1050" b="0" i="0" dirty="0">
                <a:solidFill>
                  <a:srgbClr val="1A1A1A"/>
                </a:solidFill>
                <a:latin typeface="Segoe UI"/>
              </a:rPr>
              <a:t> </a:t>
            </a:r>
            <a:r>
              <a:rPr sz="1050" b="0" i="0" dirty="0" err="1">
                <a:solidFill>
                  <a:srgbClr val="1A1A1A"/>
                </a:solidFill>
                <a:latin typeface="Segoe UI"/>
              </a:rPr>
              <a:t>modello</a:t>
            </a:r>
            <a:r>
              <a:rPr sz="1050" b="0" i="0" dirty="0">
                <a:solidFill>
                  <a:srgbClr val="1A1A1A"/>
                </a:solidFill>
                <a:latin typeface="Segoe UI"/>
              </a:rPr>
              <a:t>, </a:t>
            </a:r>
            <a:r>
              <a:rPr sz="1050" b="0" i="0" dirty="0" err="1">
                <a:solidFill>
                  <a:srgbClr val="1A1A1A"/>
                </a:solidFill>
                <a:latin typeface="Segoe UI"/>
              </a:rPr>
              <a:t>registrato</a:t>
            </a:r>
            <a:r>
              <a:rPr sz="1050" b="0" i="0" dirty="0">
                <a:solidFill>
                  <a:srgbClr val="1A1A1A"/>
                </a:solidFill>
                <a:latin typeface="Segoe UI"/>
              </a:rPr>
              <a:t> per la </a:t>
            </a:r>
            <a:r>
              <a:rPr sz="1050" b="0" i="0" dirty="0" err="1">
                <a:solidFill>
                  <a:srgbClr val="1A1A1A"/>
                </a:solidFill>
                <a:latin typeface="Segoe UI"/>
              </a:rPr>
              <a:t>correzione</a:t>
            </a:r>
            <a:r>
              <a:rPr sz="1050" b="0" i="0" dirty="0">
                <a:solidFill>
                  <a:srgbClr val="1A1A1A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7772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A6FD6"/>
                </a:solidFill>
                <a:latin typeface="Consolas"/>
              </a:rPr>
              <a:t>INVESTIMENTI (CAPEX)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20624"/>
            <a:ext cx="8321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A1A1A"/>
                </a:solidFill>
                <a:latin typeface="Segoe UI"/>
              </a:rPr>
              <a:t>Programma 2025 completato; nulla ancora impegnato nel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864608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595959"/>
                </a:solidFill>
                <a:latin typeface="Segoe UI"/>
              </a:rPr>
              <a:t>Caliman Advisory  |  Report Direzionale  |  Dati sintetici, progetto portfolio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486460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50" b="0" i="0">
                <a:solidFill>
                  <a:srgbClr val="595959"/>
                </a:solidFill>
                <a:latin typeface="Segoe UI"/>
              </a:rPr>
              <a:t>10</a:t>
            </a:r>
          </a:p>
        </p:txBody>
      </p:sp>
      <p:pic>
        <p:nvPicPr>
          <p:cNvPr id="7" name="Picture 6" descr="capex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651110"/>
            <a:ext cx="5760720" cy="209273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355080" y="960120"/>
            <a:ext cx="2377440" cy="86868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355080" y="960120"/>
            <a:ext cx="2377440" cy="32004"/>
          </a:xfrm>
          <a:prstGeom prst="rect">
            <a:avLst/>
          </a:prstGeom>
          <a:solidFill>
            <a:srgbClr val="1A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83096" y="1088136"/>
            <a:ext cx="21214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A1A1A"/>
                </a:solidFill>
                <a:latin typeface="Consolas"/>
              </a:rPr>
              <a:t>€6,4M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3096" y="1444752"/>
            <a:ext cx="21214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A1A1A"/>
                </a:solidFill>
                <a:latin typeface="Segoe UI"/>
              </a:rPr>
              <a:t>PROGRAMMA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3096" y="1691640"/>
            <a:ext cx="21214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1A6FD6"/>
                </a:solidFill>
                <a:latin typeface="Consolas"/>
              </a:rPr>
              <a:t>sei progetti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011680"/>
            <a:ext cx="2423160" cy="2651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sz="950" b="0" i="0">
                <a:solidFill>
                  <a:srgbClr val="1A1A1A"/>
                </a:solidFill>
                <a:latin typeface="Segoe UI"/>
              </a:rPr>
              <a:t>L'infrastruttura cloud e la cybersecurity hanno assorbito il 55,7% del programma 2025, coerentemente con lo spostamento verso l'erogazione in hosting.
Nessun nuovo capex impegnato nel 2026 fino ad aprile - i flussi in uscita per investimenti sono minimi a fronte di un onere di ammortamento di €3,3M, per cui la base patrimoniale viene consumata più velocemente di quanto venga rinnovata.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1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6576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B8CFF"/>
                </a:solidFill>
                <a:latin typeface="Consolas"/>
              </a:rPr>
              <a:t>BASE DI REDAZIONE E VOCI APERTE DI QUALITÀ DEI DATI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Segoe UI"/>
              </a:rPr>
              <a:t>Tre elementi da conoscere prima di fare affidamento sulle singole voci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417320"/>
            <a:ext cx="8321040" cy="896112"/>
          </a:xfrm>
          <a:prstGeom prst="roundRect">
            <a:avLst>
              <a:gd name="adj" fmla="val 6000"/>
            </a:avLst>
          </a:prstGeom>
          <a:solidFill>
            <a:srgbClr val="15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1417320"/>
            <a:ext cx="54864" cy="89611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545336"/>
            <a:ext cx="7863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C2626"/>
                </a:solidFill>
                <a:latin typeface="Consolas"/>
              </a:rPr>
              <a:t>01  MAGAZZINO NEGATIVO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37944"/>
            <a:ext cx="786384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25000"/>
              </a:lnSpc>
            </a:pPr>
            <a:r>
              <a:rPr sz="1000" b="0" i="0">
                <a:solidFill>
                  <a:srgbClr val="D7E2F0"/>
                </a:solidFill>
                <a:latin typeface="Segoe UI"/>
              </a:rPr>
              <a:t>-€7,9M al 30 aprile 2026 (positivo a fine 2025). Un errore di registrazione, mostrato con il segno reale, non mascherato.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2441448"/>
            <a:ext cx="8321040" cy="896112"/>
          </a:xfrm>
          <a:prstGeom prst="roundRect">
            <a:avLst>
              <a:gd name="adj" fmla="val 6000"/>
            </a:avLst>
          </a:prstGeom>
          <a:solidFill>
            <a:srgbClr val="15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11480" y="2441448"/>
            <a:ext cx="54864" cy="89611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2569464"/>
            <a:ext cx="7863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C2626"/>
                </a:solidFill>
                <a:latin typeface="Consolas"/>
              </a:rPr>
              <a:t>02  QUADRATURA DI CASSA TRA I PROSPETTI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862072"/>
            <a:ext cx="786384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25000"/>
              </a:lnSpc>
            </a:pPr>
            <a:r>
              <a:rPr sz="1000" b="0" i="0">
                <a:solidFill>
                  <a:srgbClr val="D7E2F0"/>
                </a:solidFill>
                <a:latin typeface="Segoe UI"/>
              </a:rPr>
              <a:t>Cassa da stato patrimoniale €1,6M contro cassa di chiusura del rendiconto finanziario €5,4M - uno scostamento di €3,8M tra due percorsi di calcolo.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3465576"/>
            <a:ext cx="8321040" cy="896112"/>
          </a:xfrm>
          <a:prstGeom prst="roundRect">
            <a:avLst>
              <a:gd name="adj" fmla="val 6000"/>
            </a:avLst>
          </a:prstGeom>
          <a:solidFill>
            <a:srgbClr val="15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11480" y="3465576"/>
            <a:ext cx="54864" cy="89611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3593592"/>
            <a:ext cx="7863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C2626"/>
                </a:solidFill>
                <a:latin typeface="Consolas"/>
              </a:rPr>
              <a:t>03  DSO/DPO ESCLUSI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886200"/>
            <a:ext cx="786384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25000"/>
              </a:lnSpc>
            </a:pPr>
            <a:r>
              <a:rPr sz="1000" b="0" i="0">
                <a:solidFill>
                  <a:srgbClr val="D7E2F0"/>
                </a:solidFill>
                <a:latin typeface="Segoe UI"/>
              </a:rPr>
              <a:t>Le misure autonome non rispettano ancora il filtro sulla data in ogni contesto; escluse in attesa di correzione.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66344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8FA3C2"/>
                </a:solidFill>
                <a:latin typeface="Segoe UI"/>
              </a:rPr>
              <a:t>Caliman Advisory SRL  |  Report Direzionale  |  Dati sintetici, progetto portfolio  |  Preparato a luglio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1361</Words>
  <Application>Microsoft Office PowerPoint</Application>
  <PresentationFormat>Presentazione su schermo (16:9)</PresentationFormat>
  <Paragraphs>226</Paragraphs>
  <Slides>11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11</vt:i4>
      </vt:variant>
    </vt:vector>
  </HeadingPairs>
  <TitlesOfParts>
    <vt:vector size="16" baseType="lpstr">
      <vt:lpstr>Arial</vt:lpstr>
      <vt:lpstr>Calibri</vt:lpstr>
      <vt:lpstr>Consolas</vt:lpstr>
      <vt:lpstr>Segoe UI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Report Direzionale - YTD</dc:title>
  <dc:subject/>
  <dc:creator/>
  <cp:keywords/>
  <dc:description>generated using python-pptx</dc:description>
  <cp:lastModifiedBy>Jheff Caliman</cp:lastModifiedBy>
  <cp:revision>3</cp:revision>
  <dcterms:created xsi:type="dcterms:W3CDTF">2013-01-27T09:14:16Z</dcterms:created>
  <dcterms:modified xsi:type="dcterms:W3CDTF">2026-07-08T14:22:46Z</dcterms:modified>
  <cp:category/>
</cp:coreProperties>
</file>