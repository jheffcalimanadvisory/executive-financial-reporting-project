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17320" y="1417320"/>
            <a:ext cx="2606040" cy="2606040"/>
          </a:xfrm>
          <a:prstGeom prst="ellipse">
            <a:avLst/>
          </a:prstGeom>
          <a:noFill/>
          <a:ln w="1778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10972"/>
          </a:xfrm>
          <a:prstGeom prst="rect">
            <a:avLst/>
          </a:prstGeom>
          <a:solidFill>
            <a:srgbClr val="D8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2140"/>
                </a:solidFill>
                <a:latin typeface="Segoe U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0233F"/>
                </a:solidFill>
                <a:latin typeface="Segoe UI"/>
              </a:rPr>
              <a:t>CALIMAN ADVISORY SRL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74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>
                <a:solidFill>
                  <a:srgbClr val="10233F"/>
                </a:solidFill>
                <a:latin typeface="Segoe UI"/>
              </a:rPr>
              <a:t>Trasformiamo i dati in </a:t>
            </a:r>
            <a:r>
              <a:rPr sz="1050" b="1">
                <a:solidFill>
                  <a:srgbClr val="2B8CFF"/>
                </a:solidFill>
                <a:latin typeface="Segoe UI"/>
              </a:rPr>
              <a:t>insight.</a:t>
            </a:r>
          </a:p>
          <a:p>
            <a:pPr algn="r"/>
            <a:r>
              <a:rPr sz="1050" b="1">
                <a:solidFill>
                  <a:srgbClr val="10233F"/>
                </a:solidFill>
                <a:latin typeface="Segoe UI"/>
              </a:rPr>
              <a:t>Guidiamo le </a:t>
            </a:r>
            <a:r>
              <a:rPr sz="1050" b="1">
                <a:solidFill>
                  <a:srgbClr val="2B8CFF"/>
                </a:solidFill>
                <a:latin typeface="Segoe UI"/>
              </a:rPr>
              <a:t>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11556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B8CFF"/>
                </a:solidFill>
                <a:latin typeface="Consolas"/>
              </a:rPr>
              <a:t>REPORT DIREZIONALE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389888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33F"/>
                </a:solidFill>
                <a:latin typeface="Segoe UI"/>
              </a:rPr>
              <a:t>Consuntivo 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B8CFF"/>
                </a:solidFill>
                <a:latin typeface="Segoe UI"/>
              </a:rPr>
              <a:t>Gennaio - Aprile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724912"/>
            <a:ext cx="640080" cy="27432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288950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5168"/>
                </a:solidFill>
                <a:latin typeface="Segoe UI"/>
              </a:rPr>
              <a:t>Consuntivo a confronto con il budget, con raffronto sull’anno precedente, investimenti e prospettive di fine anno. Preparato a luglio 2026 utilizzando il modello semantico Power 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4381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i="1">
                <a:solidFill>
                  <a:srgbClr val="8A93A3"/>
                </a:solidFill>
                <a:latin typeface="Segoe UI"/>
              </a:rPr>
              <a:t>Dati sintetici · progetto portfolio.</a:t>
            </a:r>
          </a:p>
          <a:p>
            <a:pPr algn="l"/>
            <a:r>
              <a:rPr sz="750" i="1">
                <a:solidFill>
                  <a:srgbClr val="8A93A3"/>
                </a:solidFill>
                <a:latin typeface="Segoe UI"/>
              </a:rPr>
              <a:t>Non descrive alcuna entità reale.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58768"/>
            <a:ext cx="32461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14800" y="3977639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39776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9593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PERIODO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1056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 dirty="0">
                <a:solidFill>
                  <a:srgbClr val="1A1A1A"/>
                </a:solidFill>
                <a:latin typeface="Segoe UI"/>
              </a:rPr>
              <a:t>1 gen - 30 </a:t>
            </a:r>
            <a:r>
              <a:rPr sz="750" b="0" i="0" dirty="0" err="1">
                <a:solidFill>
                  <a:srgbClr val="1A1A1A"/>
                </a:solidFill>
                <a:latin typeface="Segoe UI"/>
              </a:rPr>
              <a:t>apr</a:t>
            </a:r>
            <a:r>
              <a:rPr sz="750" b="0" i="0" dirty="0">
                <a:solidFill>
                  <a:srgbClr val="1A1A1A"/>
                </a:solidFill>
                <a:latin typeface="Segoe UI"/>
              </a:rPr>
              <a:t> 2026</a:t>
            </a:r>
          </a:p>
        </p:txBody>
      </p:sp>
      <p:sp>
        <p:nvSpPr>
          <p:cNvPr id="19" name="Oval 18"/>
          <p:cNvSpPr/>
          <p:nvPr/>
        </p:nvSpPr>
        <p:spPr>
          <a:xfrm>
            <a:off x="5742432" y="3977639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2432" y="39776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9593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41056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Consuntivo vs Budget · PY 2025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0" y="4434840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4165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VALUTA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5628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EUR · in migliaia salvo indicazioni</a:t>
            </a:r>
          </a:p>
        </p:txBody>
      </p:sp>
      <p:sp>
        <p:nvSpPr>
          <p:cNvPr id="27" name="Oval 26"/>
          <p:cNvSpPr/>
          <p:nvPr/>
        </p:nvSpPr>
        <p:spPr>
          <a:xfrm>
            <a:off x="5742432" y="4434840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42432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44165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ESTRATTO 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1616" y="45628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8 luglio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6367" y="4892040"/>
            <a:ext cx="128016" cy="118872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90103" y="4837176"/>
            <a:ext cx="128016" cy="173736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63840" y="4754880"/>
            <a:ext cx="128016" cy="256032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37575" y="4809744"/>
            <a:ext cx="128016" cy="201168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11311" y="4700016"/>
            <a:ext cx="128016" cy="310896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85047" y="4773168"/>
            <a:ext cx="128016" cy="237744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58784" y="4645152"/>
            <a:ext cx="128016" cy="365760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SINTESI ESECUTIVA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3646"/>
            <a:ext cx="8321040" cy="643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 dirty="0" err="1">
                <a:solidFill>
                  <a:srgbClr val="1A1A1A"/>
                </a:solidFill>
                <a:latin typeface="Segoe UI"/>
              </a:rPr>
              <a:t>Ritorno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all'utile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: quattro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mesi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crescita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reale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, </a:t>
            </a:r>
            <a:r>
              <a:rPr lang="it-IT" sz="1900" b="1" i="0" dirty="0">
                <a:solidFill>
                  <a:srgbClr val="1A1A1A"/>
                </a:solidFill>
                <a:latin typeface="Segoe UI"/>
              </a:rPr>
              <a:t>il budget richiede una revisione</a:t>
            </a:r>
            <a:endParaRPr sz="1900" b="1" i="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€36,9M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RICAVI NETTI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7168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15184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€7,1M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19,2% margine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2856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62856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€3,0M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UTILE NETTO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+245,8% vs 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38544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€6,2M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FLUSSO DI CASSA LIBERO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CF operativo €5,7M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286000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Segoe UI"/>
              </a:rPr>
              <a:t>I ricavi hanno più che raddoppiato il budget in ogni singolo mese e sono cresciuti del 100,8% su base annua. L'EBITDA è tornato positivo - €7,1M a fronte di una perdita a budget - proseguendo la ripresa iniziata nel 2025 dopo due anni in perdita. L'utile netto è cresciuto del 245,8% a €3,0M.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24612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50" b="0" i="1">
                <a:solidFill>
                  <a:srgbClr val="595959"/>
                </a:solidFill>
                <a:latin typeface="Segoe UI"/>
              </a:rPr>
              <a:t>Attenzione: la base di budget è insolitamente prudente (implica una perdita EBITDA per l'intero anno), e i crediti verso clienti sono cresciuti di €27,7M a fronte di €36,9M di ricavi - un vero punto di attenzione sulla conversione in cassa nonostante il ritorno all'utile.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CONTO ECONOMICO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YTD aprile 2026, consuntivo a confronto con il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60120"/>
          <a:ext cx="56692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MIGLIAIA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CONSUNTIVO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BUDGET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 %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Ricavi netti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36.900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16.637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20.263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+121,8%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Totale costo del venduto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15.846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17.737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(1.891)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-10,7%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Utile lordo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21.054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(1.099)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22.153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+2.014,9%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Totale costi operativi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13.975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6.744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7.231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+107,2%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EBITDA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7.079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(7.843)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14.922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+190,3%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Ammortamenti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265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2.988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+1.127,4%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3.826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(8.108)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11.934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+147,2%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Risultato finanziario netto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3.203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3.210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n.s.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Utile ante imposte (EBT)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7.028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(8.115)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15.144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+186,6%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Imposte sul reddito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4.028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622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3.406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+547,7%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Utile netto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(8.737)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+134,3%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6FD6"/>
                </a:solidFill>
                <a:latin typeface="Consolas"/>
              </a:rPr>
              <a:t>Commento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25146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Segoe UI"/>
              </a:rPr>
              <a:t>Un miglioramento di €17,4M sull'EBITDA rispetto al budget si riduce a un miglioramento di €10,8M sull'utile netto una volta applicati ammortamenti, risultato finanziario e imposte.
Il costo del venduto è risultato favorevole anche con ricavi raddoppiati - vale la pena convalidare la mappatura dei conti prima della prossima chiusura.
I costi operativi hanno superato il budget di €7,2M, assorbendo circa un terzo dell'upside sui ricavi.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ANALISI DEGLI SCOSTAMENTI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I ricavi hanno corso a circa il doppio del budget, ogni mese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4</a:t>
            </a:r>
          </a:p>
        </p:txBody>
      </p:sp>
      <p:pic>
        <p:nvPicPr>
          <p:cNvPr id="7" name="Picture 6" descr="revenue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01090"/>
            <a:ext cx="5760720" cy="3192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9601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+20.263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SCOSTAMENTO YTD (€K)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2423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I consuntivi mensili si collocano in una fascia stretta di €10,9-11,7M di ricavi lordi. Nulla nell'andamento suggerisce un effetto di timing - il budget era semplicemente fissato ben al di sotto del run rate che l'azienda aveva già raggiunto nel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ANALISI DEGLI SCOSTAMENTI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Ponte EBITDA: da budget a consuntivo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5</a:t>
            </a:r>
          </a:p>
        </p:txBody>
      </p:sp>
      <p:pic>
        <p:nvPicPr>
          <p:cNvPr id="7" name="Picture 6" descr="ebitd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40" y="914400"/>
            <a:ext cx="6637918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37083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595959"/>
                </a:solidFill>
                <a:latin typeface="Segoe UI"/>
              </a:rPr>
              <a:t>€ migliaia. Le barre poggiano sul totale EBITDA progressivo, per cui un passaggio può attraversare lo zero; l'etichetta indica la variazione di quel passaggio, non il punto di arrivo. I ricavi spiegano gran parte del divario; gli OPEX ne restituiscono circa un terzo.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ANALISI DEGLI SCOSTAMENTI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I costi operativi sono cresciuti con l'attività, €7,2M oltre il piano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6</a:t>
            </a:r>
          </a:p>
        </p:txBody>
      </p:sp>
      <p:pic>
        <p:nvPicPr>
          <p:cNvPr id="7" name="Picture 6" descr="o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93077"/>
            <a:ext cx="5760720" cy="26088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005840"/>
            <a:ext cx="2423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I costi operativi si sono mantenuti al 37,9% dei ricavi - sostanzialmente in linea con l'attività.
Retribuzioni, affitti e utenze rappresentano il 91% del totale dei costi operativi. Affitti e utenze sono normalmente semi-fissi e non dovrebbero scalare con i volumi come è avvenuto in questo caso.
Azione: approfondire le registrazioni di affitti e utenze.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CONFRONTO ANNO PRECEDENTE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Dalla perdita all'utile, ora in continuità nel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multiyea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1545"/>
            <a:ext cx="5760720" cy="35318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+100,8%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RICAVI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892808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892808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2082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+470,1%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774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243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825496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825496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2953512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+245,8%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3101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UTILE NETTO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557015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Il 2023 e il 2024 sono stati anni in perdita; il 2025 è stata l'inversione di tendenza. I primi quattro mesi del 2026 rappresentano già il 46% dell'intero utile del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STATO PATRIMONIALE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Posizione solida, un'anomalia e un punto di attenzione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MIGLIAIA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30 APR 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31 DIC 25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VARIAZIONE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Cassa e disponibilità liquide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1.623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(53)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Crediti verso clienti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48.685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21.000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27.685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Magazzino (!)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8.000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(15.868)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Risconti attivi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Attivo corrente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42.720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30.955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11.764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Attivo non corrente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54.691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54.800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(109)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Totale attivo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97.410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85.755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11.655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Totale passivo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41.198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38.054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Patrimonio netto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56.212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47.702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8.511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1,59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it-IT" sz="950" b="1" i="0" dirty="0">
                <a:solidFill>
                  <a:srgbClr val="1A1A1A"/>
                </a:solidFill>
                <a:latin typeface="Segoe UI"/>
              </a:rPr>
              <a:t>INDICE DI LIQUIDITÀ CORRENTE</a:t>
            </a:r>
            <a:endParaRPr sz="950" b="1" i="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da 1,31, migliorato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4825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0,73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0487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DEBITO/PATRIMONIO NETTO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517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da 0,80, migliorato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Segoe UI"/>
              </a:rPr>
              <a:t>(!) Il magazzino è negativo nel libro mastro ad aprile 2026 (era positivo a fine 2025) - un'anomalia reale dei dati, mostrata con il segno reale anziché mascherata.
I crediti verso clienti sono quasi raddoppiati - il principale punto di attenzione sulla conversione in cassa.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RENDICONTO FINANZIARIO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La gestione operativa autofinanzia la crescita in questo periodo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€ MIGLIAIA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YTD APR 2026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Utile netto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Ammortamenti (rettifica non monetaria)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Capitale circolante e altro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(586)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Flusso di cassa dalla gestione operativa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5.667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Attività di investimento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(100)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Attività di finanziamento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(238)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Variazione netta di cassa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5.330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Flusso di cassa libero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6.154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Il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flusso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cassa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operativo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€5,7M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supera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ampiamente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l'utile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netto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€3,0M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grazie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al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reintegro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per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ammortamenti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.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L'attività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investimento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è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stata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minima;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flussi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finanziamento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sono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stati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prossimi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allo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zero. La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crescita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del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periodo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è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ampiamente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autofinanziata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dalla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gestione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operativa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.
Nota: il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rendiconto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finanziario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è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internamente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coerente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, ma la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cassa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chiusura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non quadra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attualmente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con la voce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cassa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dello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stato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patrimoniale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- uno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scostamento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€3,8M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tra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due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percorsi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calcolo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nel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modello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registrato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per la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correzione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INVESTIMENTI (CAPEX)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Programma 2025 completato; nulla ancora impegnato nel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ca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51110"/>
            <a:ext cx="5760720" cy="20927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€6,4M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PROGRAMMA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sei progetti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4231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L'infrastruttura cloud e la cybersecurity hanno assorbito il 55,7% del programma 2025, coerentemente con lo spostamento verso l'erogazione in hosting.
Nessun nuovo capex impegnato nel 2026 fino ad aprile - i flussi in uscita per investimenti sono minimi a fronte di un onere di ammortamento di €3,3M, per cui la base patrimoniale viene consumata più velocemente di quanto venga rinnovata.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8CFF"/>
                </a:solidFill>
                <a:latin typeface="Consolas"/>
              </a:rPr>
              <a:t>BASE DI REDAZIONE E VOCI APERTE DI QUALITÀ DEI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Tre elementi da conoscere prima di fare affidamento sulle singole voci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01  MAGAZZINO NEGATIVO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-€7,9M al 30 aprile 2026 (positivo a fine 2025). Un errore di registrazione, mostrato con il segno reale, non mascherato.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441448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441448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6946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02  QUADRATURA DI CASSA TRA I PROSPETTI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Cassa da stato patrimoniale €1,6M contro cassa di chiusura del rendiconto finanziario €5,4M - uno scostamento di €3,8M tra due percorsi di calcolo.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465576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465576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03  DSO/DPO ESCLUSI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Le misure autonome non rispettano ancora il filtro sulla data in ogni contesto; escluse in attesa di correzione.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63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FA3C2"/>
                </a:solidFill>
                <a:latin typeface="Segoe UI"/>
              </a:rPr>
              <a:t>Caliman Advisory SRL  |  Report Direzionale  |  Dati sintetici, progetto portfolio  |  Preparato a luglio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1361</Words>
  <Application>Microsoft Office PowerPoint</Application>
  <PresentationFormat>Presentazione su schermo (16:9)</PresentationFormat>
  <Paragraphs>226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Direzionale - YTD</dc:title>
  <dc:subject/>
  <dc:creator/>
  <cp:keywords/>
  <dc:description>generated using python-pptx</dc:description>
  <cp:lastModifiedBy>Jheff Caliman</cp:lastModifiedBy>
  <cp:revision>3</cp:revision>
  <dcterms:created xsi:type="dcterms:W3CDTF">2013-01-27T09:14:16Z</dcterms:created>
  <dcterms:modified xsi:type="dcterms:W3CDTF">2026-07-08T14:22:46Z</dcterms:modified>
  <cp:category/>
</cp:coreProperties>
</file>