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38" d="100"/>
          <a:sy n="138" d="100"/>
        </p:scale>
        <p:origin x="834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417320" y="1417320"/>
            <a:ext cx="2606040" cy="2606040"/>
          </a:xfrm>
          <a:prstGeom prst="ellipse">
            <a:avLst/>
          </a:prstGeom>
          <a:noFill/>
          <a:ln w="17780">
            <a:solidFill>
              <a:srgbClr val="2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10972"/>
          </a:xfrm>
          <a:prstGeom prst="rect">
            <a:avLst/>
          </a:prstGeom>
          <a:solidFill>
            <a:srgbClr val="3A5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310896"/>
            <a:ext cx="310896" cy="310896"/>
          </a:xfrm>
          <a:prstGeom prst="rect">
            <a:avLst/>
          </a:prstGeom>
          <a:solidFill>
            <a:srgbClr val="2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A2140"/>
                </a:solidFill>
                <a:latin typeface="Segoe UI"/>
              </a:rPr>
              <a:t>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38328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CALIMAN ADVISORY SRL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274320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Segoe UI"/>
              </a:rPr>
              <a:t>Turning data into </a:t>
            </a:r>
            <a:r>
              <a:rPr sz="1050" b="1">
                <a:solidFill>
                  <a:srgbClr val="2B8CFF"/>
                </a:solidFill>
                <a:latin typeface="Segoe UI"/>
              </a:rPr>
              <a:t>insights.</a:t>
            </a:r>
          </a:p>
          <a:p>
            <a:pPr algn="r"/>
            <a:r>
              <a:rPr sz="1050" b="1">
                <a:solidFill>
                  <a:srgbClr val="FFFFFF"/>
                </a:solidFill>
                <a:latin typeface="Segoe UI"/>
              </a:rPr>
              <a:t>Driving </a:t>
            </a:r>
            <a:r>
              <a:rPr sz="1050" b="1">
                <a:solidFill>
                  <a:srgbClr val="2B8CFF"/>
                </a:solidFill>
                <a:latin typeface="Segoe UI"/>
              </a:rPr>
              <a:t>performance.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1115568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2B8CFF"/>
                </a:solidFill>
                <a:latin typeface="Consolas"/>
              </a:rPr>
              <a:t>MANAGEMENT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1389888"/>
            <a:ext cx="457200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Year-to-Date </a:t>
            </a:r>
          </a:p>
          <a:p>
            <a:pPr algn="l">
              <a:lnSpc>
                <a:spcPct val="105000"/>
              </a:lnSpc>
            </a:pPr>
            <a:r>
              <a:rPr sz="2600" b="1">
                <a:solidFill>
                  <a:srgbClr val="2B8CFF"/>
                </a:solidFill>
                <a:latin typeface="Segoe UI"/>
              </a:rPr>
              <a:t>January - April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77639" y="2724912"/>
            <a:ext cx="640080" cy="27432"/>
          </a:xfrm>
          <a:prstGeom prst="rect">
            <a:avLst/>
          </a:prstGeom>
          <a:solidFill>
            <a:srgbClr val="2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77639" y="2889504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C9D6E8"/>
                </a:solidFill>
                <a:latin typeface="Segoe UI"/>
              </a:rPr>
              <a:t>Actual versus budget, with prior-year comparison, capital expenditure and full-year outlook. Prepared in July 2026 using the Power BI semantic model.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3438144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i="1">
                <a:solidFill>
                  <a:srgbClr val="6E85A8"/>
                </a:solidFill>
                <a:latin typeface="Segoe UI"/>
              </a:rPr>
              <a:t>Synthetic data · portfolio project.</a:t>
            </a:r>
          </a:p>
          <a:p>
            <a:pPr algn="l"/>
            <a:r>
              <a:rPr sz="750" i="1">
                <a:solidFill>
                  <a:srgbClr val="6E85A8"/>
                </a:solidFill>
                <a:latin typeface="Segoe UI"/>
              </a:rPr>
              <a:t>Does not describe any real entity.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3858768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2B8CFF"/>
                </a:solidFill>
                <a:latin typeface="Consolas"/>
              </a:rPr>
              <a:t>PERIOD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4041648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FFFFFF"/>
                </a:solidFill>
                <a:latin typeface="Segoe UI"/>
              </a:rPr>
              <a:t>1 Jan - 30 Apr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79" y="3858768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2B8CFF"/>
                </a:solidFill>
                <a:latin typeface="Consolas"/>
              </a:rPr>
              <a:t>BASIS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79" y="4041648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FFFFFF"/>
                </a:solidFill>
                <a:latin typeface="Segoe UI"/>
              </a:rPr>
              <a:t>Actual vs Budget · PY 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39" y="4407407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2B8CFF"/>
                </a:solidFill>
                <a:latin typeface="Consolas"/>
              </a:rPr>
              <a:t>CURRENCY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4590288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FFFFFF"/>
                </a:solidFill>
                <a:latin typeface="Segoe UI"/>
              </a:rPr>
              <a:t>EUR · thousands unless stated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79" y="4407407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2B8CFF"/>
                </a:solidFill>
                <a:latin typeface="Consolas"/>
              </a:rPr>
              <a:t>EXTRACTED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79" y="4590288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FFFFFF"/>
                </a:solidFill>
                <a:latin typeface="Segoe UI"/>
              </a:rPr>
              <a:t>8 July 2026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16367" y="4892040"/>
            <a:ext cx="128016" cy="118872"/>
          </a:xfrm>
          <a:prstGeom prst="rect">
            <a:avLst/>
          </a:prstGeom>
          <a:solidFill>
            <a:srgbClr val="2B8CFF">
              <a:lumMod val="65000"/>
              <a:lumOff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690103" y="4837176"/>
            <a:ext cx="128016" cy="173736"/>
          </a:xfrm>
          <a:prstGeom prst="rect">
            <a:avLst/>
          </a:prstGeom>
          <a:solidFill>
            <a:srgbClr val="2B8CFF">
              <a:lumMod val="65000"/>
              <a:lumOff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863840" y="4754880"/>
            <a:ext cx="128016" cy="256032"/>
          </a:xfrm>
          <a:prstGeom prst="rect">
            <a:avLst/>
          </a:prstGeom>
          <a:solidFill>
            <a:srgbClr val="2B8CFF">
              <a:lumMod val="65000"/>
              <a:lumOff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037575" y="4809744"/>
            <a:ext cx="128016" cy="201168"/>
          </a:xfrm>
          <a:prstGeom prst="rect">
            <a:avLst/>
          </a:prstGeom>
          <a:solidFill>
            <a:srgbClr val="2B8CFF">
              <a:lumMod val="65000"/>
              <a:lumOff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11311" y="4700016"/>
            <a:ext cx="128016" cy="310896"/>
          </a:xfrm>
          <a:prstGeom prst="rect">
            <a:avLst/>
          </a:prstGeom>
          <a:solidFill>
            <a:srgbClr val="2B8CFF">
              <a:lumMod val="65000"/>
              <a:lumOff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385047" y="4773168"/>
            <a:ext cx="128016" cy="237744"/>
          </a:xfrm>
          <a:prstGeom prst="rect">
            <a:avLst/>
          </a:prstGeom>
          <a:solidFill>
            <a:srgbClr val="2B8CFF">
              <a:lumMod val="65000"/>
              <a:lumOff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558784" y="4645152"/>
            <a:ext cx="128016" cy="365760"/>
          </a:xfrm>
          <a:prstGeom prst="rect">
            <a:avLst/>
          </a:prstGeom>
          <a:solidFill>
            <a:srgbClr val="2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6FD6"/>
                </a:solidFill>
                <a:latin typeface="Consolas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20624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Segoe UI"/>
              </a:rPr>
              <a:t>Back to profit: four months of real growth, budget requires revision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595959"/>
                </a:solidFill>
                <a:latin typeface="Segoe UI"/>
              </a:rPr>
              <a:t>Caliman Advisory  |  Executive Financial Review  |  Synthetic data, portfolio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 i="0">
                <a:solidFill>
                  <a:srgbClr val="595959"/>
                </a:solidFill>
                <a:latin typeface="Segoe UI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960120"/>
            <a:ext cx="1965960" cy="10515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960120"/>
            <a:ext cx="1965960" cy="3200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9496" y="1088136"/>
            <a:ext cx="17099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Consolas"/>
              </a:rPr>
              <a:t>€36,9M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" y="1444752"/>
            <a:ext cx="1709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1A1A"/>
                </a:solidFill>
                <a:latin typeface="Segoe UI"/>
              </a:rPr>
              <a:t>NET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" y="1691640"/>
            <a:ext cx="1709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1A6FD6"/>
                </a:solidFill>
                <a:latin typeface="Consolas"/>
              </a:rPr>
              <a:t>+121,8% vs budget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87168" y="960120"/>
            <a:ext cx="1965960" cy="10515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487168" y="960120"/>
            <a:ext cx="1965960" cy="3200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15184" y="1088136"/>
            <a:ext cx="17099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Consolas"/>
              </a:rPr>
              <a:t>€7,1M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5184" y="1444752"/>
            <a:ext cx="1709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1A1A"/>
                </a:solidFill>
                <a:latin typeface="Segoe UI"/>
              </a:rPr>
              <a:t>EBITDA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15184" y="1691640"/>
            <a:ext cx="1709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1A6FD6"/>
                </a:solidFill>
                <a:latin typeface="Consolas"/>
              </a:rPr>
              <a:t>19,2% margin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62856" y="960120"/>
            <a:ext cx="1965960" cy="10515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62856" y="960120"/>
            <a:ext cx="1965960" cy="3200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90872" y="1088136"/>
            <a:ext cx="17099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Consolas"/>
              </a:rPr>
              <a:t>€3,0M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90872" y="1444752"/>
            <a:ext cx="1709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1A1A"/>
                </a:solidFill>
                <a:latin typeface="Segoe UI"/>
              </a:rPr>
              <a:t>NET INCOME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90872" y="1691640"/>
            <a:ext cx="1709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1A6FD6"/>
                </a:solidFill>
                <a:latin typeface="Consolas"/>
              </a:rPr>
              <a:t>+245,8% vs PY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38544" y="960120"/>
            <a:ext cx="1965960" cy="10515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638544" y="960120"/>
            <a:ext cx="1965960" cy="3200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66560" y="1088136"/>
            <a:ext cx="17099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Consolas"/>
              </a:rPr>
              <a:t>€6,2M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1444752"/>
            <a:ext cx="1709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1A1A"/>
                </a:solidFill>
                <a:latin typeface="Segoe UI"/>
              </a:rPr>
              <a:t>FREE CASH 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1691640"/>
            <a:ext cx="1709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1A6FD6"/>
                </a:solidFill>
                <a:latin typeface="Consolas"/>
              </a:rPr>
              <a:t>OpCF €5,7M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2286000"/>
            <a:ext cx="8321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sz="1200" b="0" i="0">
                <a:solidFill>
                  <a:srgbClr val="1A1A1A"/>
                </a:solidFill>
                <a:latin typeface="Segoe UI"/>
              </a:rPr>
              <a:t>Revenue more than doubled the budget in every single month and grew 100.8% year over year. EBITDA turned positive - €7.1M against a budgeted loss - continuing the recovery that started in 2025 after two loss-making years. Net income grew 245.8% to €3.0M.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3246120"/>
            <a:ext cx="8321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sz="1050" b="0" i="1">
                <a:solidFill>
                  <a:srgbClr val="595959"/>
                </a:solidFill>
                <a:latin typeface="Segoe UI"/>
              </a:rPr>
              <a:t>Caution: the budget baseline is unusually conservative (implies a full-year EBITDA loss), and accounts receivable grew €27.7M against €36.9M of revenue - a real cash-conversion watch item despite the profit turn.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6FD6"/>
                </a:solidFill>
                <a:latin typeface="Consolas"/>
              </a:rPr>
              <a:t>INCOME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20624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Segoe UI"/>
              </a:rPr>
              <a:t>YTD April 2026, actual versus budget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595959"/>
                </a:solidFill>
                <a:latin typeface="Segoe UI"/>
              </a:rPr>
              <a:t>Caliman Advisory  |  Executive Financial Review  |  Synthetic data, portfolio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 i="0">
                <a:solidFill>
                  <a:srgbClr val="595959"/>
                </a:solidFill>
                <a:latin typeface="Segoe UI"/>
              </a:rPr>
              <a:t>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960120"/>
          <a:ext cx="566928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595959"/>
                          </a:solidFill>
                          <a:latin typeface="Consolas"/>
                        </a:rPr>
                        <a:t>€ THOUSANDS</a:t>
                      </a:r>
                    </a:p>
                  </a:txBody>
                  <a:tcPr marL="50800" marR="50800" marT="25400" marB="25400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1">
                          <a:solidFill>
                            <a:srgbClr val="595959"/>
                          </a:solidFill>
                          <a:latin typeface="Consolas"/>
                        </a:rPr>
                        <a:t>ACTUAL</a:t>
                      </a:r>
                    </a:p>
                  </a:txBody>
                  <a:tcPr marL="50800" marR="50800" marT="25400" marB="25400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1">
                          <a:solidFill>
                            <a:srgbClr val="595959"/>
                          </a:solidFill>
                          <a:latin typeface="Consolas"/>
                        </a:rPr>
                        <a:t>BUDGET</a:t>
                      </a:r>
                    </a:p>
                  </a:txBody>
                  <a:tcPr marL="50800" marR="50800" marT="25400" marB="25400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1">
                          <a:solidFill>
                            <a:srgbClr val="595959"/>
                          </a:solidFill>
                          <a:latin typeface="Consolas"/>
                        </a:rPr>
                        <a:t>VAR</a:t>
                      </a:r>
                    </a:p>
                  </a:txBody>
                  <a:tcPr marL="50800" marR="50800" marT="25400" marB="25400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1">
                          <a:solidFill>
                            <a:srgbClr val="595959"/>
                          </a:solidFill>
                          <a:latin typeface="Consolas"/>
                        </a:rPr>
                        <a:t>VAR %</a:t>
                      </a:r>
                    </a:p>
                  </a:txBody>
                  <a:tcPr marL="50800" marR="50800" marT="25400" marB="25400"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Segoe UI"/>
                        </a:rPr>
                        <a:t>Net Revenue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36.900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16.637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20.263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6FD6"/>
                          </a:solidFill>
                          <a:latin typeface="Consolas"/>
                        </a:rPr>
                        <a:t>+121,8%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Total COGS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15.846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17.737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DC2626"/>
                          </a:solidFill>
                          <a:latin typeface="Consolas"/>
                        </a:rPr>
                        <a:t>(1.891)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-10,7%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Segoe UI"/>
                        </a:rPr>
                        <a:t>Gross Profit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21.054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DC2626"/>
                          </a:solidFill>
                          <a:latin typeface="Consolas"/>
                        </a:rPr>
                        <a:t>(1.099)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22.153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6FD6"/>
                          </a:solidFill>
                          <a:latin typeface="Consolas"/>
                        </a:rPr>
                        <a:t>+2.014,9%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Total OPEX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13.975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6.744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7.231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6FD6"/>
                          </a:solidFill>
                          <a:latin typeface="Consolas"/>
                        </a:rPr>
                        <a:t>+107,2%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Segoe UI"/>
                        </a:rPr>
                        <a:t>EBITDA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7.079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DC2626"/>
                          </a:solidFill>
                          <a:latin typeface="Consolas"/>
                        </a:rPr>
                        <a:t>(7.843)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14.922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6FD6"/>
                          </a:solidFill>
                          <a:latin typeface="Consolas"/>
                        </a:rPr>
                        <a:t>+190,3%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D&amp;A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3.253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265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2.988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6FD6"/>
                          </a:solidFill>
                          <a:latin typeface="Consolas"/>
                        </a:rPr>
                        <a:t>+1.127,4%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Segoe UI"/>
                        </a:rPr>
                        <a:t>EBIT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3.826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DC2626"/>
                          </a:solidFill>
                          <a:latin typeface="Consolas"/>
                        </a:rPr>
                        <a:t>(8.108)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11.934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6FD6"/>
                          </a:solidFill>
                          <a:latin typeface="Consolas"/>
                        </a:rPr>
                        <a:t>+147,2%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Financial Result Net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3.203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DC2626"/>
                          </a:solidFill>
                          <a:latin typeface="Consolas"/>
                        </a:rPr>
                        <a:t>(7)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3.210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n.m.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Segoe UI"/>
                        </a:rPr>
                        <a:t>EBT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7.028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DC2626"/>
                          </a:solidFill>
                          <a:latin typeface="Consolas"/>
                        </a:rPr>
                        <a:t>(8.115)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15.144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6FD6"/>
                          </a:solidFill>
                          <a:latin typeface="Consolas"/>
                        </a:rPr>
                        <a:t>+186,6%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Income Taxes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4.028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622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3.406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6FD6"/>
                          </a:solidFill>
                          <a:latin typeface="Consolas"/>
                        </a:rPr>
                        <a:t>+547,7%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Segoe UI"/>
                        </a:rPr>
                        <a:t>Net Income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3.000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DC2626"/>
                          </a:solidFill>
                          <a:latin typeface="Consolas"/>
                        </a:rPr>
                        <a:t>(8.737)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11.737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6FD6"/>
                          </a:solidFill>
                          <a:latin typeface="Consolas"/>
                        </a:rPr>
                        <a:t>+134,3%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63640" y="100584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A6FD6"/>
                </a:solidFill>
                <a:latin typeface="Consolas"/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325880"/>
            <a:ext cx="251460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sz="1000" b="0" i="0">
                <a:solidFill>
                  <a:srgbClr val="1A1A1A"/>
                </a:solidFill>
                <a:latin typeface="Segoe UI"/>
              </a:rPr>
              <a:t>A €17.4M EBITDA beat against budget narrows to a €10.8M net income beat by the time D&amp;A, financial result and taxes are applied.
COGS came in favorable even as revenue doubled - worth validating account mapping before the next close.
OPEX ran €7.2M over budget, absorbing about a third of the revenue upside.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6FD6"/>
                </a:solidFill>
                <a:latin typeface="Consolas"/>
              </a:rPr>
              <a:t>VARIANCE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20624"/>
            <a:ext cx="7772400" cy="307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 dirty="0">
                <a:solidFill>
                  <a:srgbClr val="1A1A1A"/>
                </a:solidFill>
                <a:latin typeface="Segoe UI"/>
              </a:rPr>
              <a:t>Revenue </a:t>
            </a:r>
            <a:r>
              <a:rPr lang="it-IT" sz="1900" b="1" i="0" dirty="0" err="1">
                <a:solidFill>
                  <a:srgbClr val="1A1A1A"/>
                </a:solidFill>
                <a:latin typeface="Segoe UI"/>
              </a:rPr>
              <a:t>was</a:t>
            </a:r>
            <a:r>
              <a:rPr lang="it-IT" sz="1900" b="1" i="0" dirty="0">
                <a:solidFill>
                  <a:srgbClr val="1A1A1A"/>
                </a:solidFill>
                <a:latin typeface="Segoe UI"/>
              </a:rPr>
              <a:t> </a:t>
            </a:r>
            <a:r>
              <a:rPr lang="it-IT" sz="1900" b="1" i="0" dirty="0" err="1">
                <a:solidFill>
                  <a:srgbClr val="1A1A1A"/>
                </a:solidFill>
                <a:latin typeface="Segoe UI"/>
              </a:rPr>
              <a:t>approximately</a:t>
            </a:r>
            <a:r>
              <a:rPr lang="it-IT" sz="1900" b="1" i="0" dirty="0">
                <a:solidFill>
                  <a:srgbClr val="1A1A1A"/>
                </a:solidFill>
                <a:latin typeface="Segoe UI"/>
              </a:rPr>
              <a:t> </a:t>
            </a:r>
            <a:r>
              <a:rPr sz="1900" b="1" i="0" dirty="0">
                <a:solidFill>
                  <a:srgbClr val="1A1A1A"/>
                </a:solidFill>
                <a:latin typeface="Segoe UI"/>
              </a:rPr>
              <a:t>twice budget, every month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595959"/>
                </a:solidFill>
                <a:latin typeface="Segoe UI"/>
              </a:rPr>
              <a:t>Caliman Advisory  |  Executive Financial Review  |  Synthetic data, portfolio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 i="0">
                <a:solidFill>
                  <a:srgbClr val="595959"/>
                </a:solidFill>
                <a:latin typeface="Segoe UI"/>
              </a:rPr>
              <a:t>4</a:t>
            </a:r>
          </a:p>
        </p:txBody>
      </p:sp>
      <p:pic>
        <p:nvPicPr>
          <p:cNvPr id="7" name="Picture 6" descr="revenue_by_mon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01090"/>
            <a:ext cx="5760720" cy="31927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355080" y="960120"/>
            <a:ext cx="2377440" cy="96012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355080" y="960120"/>
            <a:ext cx="2377440" cy="3200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83096" y="1088136"/>
            <a:ext cx="21214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Consolas"/>
              </a:rPr>
              <a:t>+20.263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3096" y="1444752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1A1A"/>
                </a:solidFill>
                <a:latin typeface="Segoe UI"/>
              </a:rPr>
              <a:t>YTD VARIANCE (€K)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3096" y="1691640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1A6FD6"/>
                </a:solidFill>
                <a:latin typeface="Consolas"/>
              </a:rPr>
              <a:t>+121,8% vs budget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148840"/>
            <a:ext cx="242316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35000"/>
              </a:lnSpc>
            </a:pPr>
            <a:r>
              <a:rPr sz="1050" b="0" i="0">
                <a:solidFill>
                  <a:srgbClr val="1A1A1A"/>
                </a:solidFill>
                <a:latin typeface="Segoe UI"/>
              </a:rPr>
              <a:t>Monthly actuals sit in a narrow €10.9-11.7M band on gross revenue. Nothing about the pattern suggests a timing effect - the budget was simply set well below the run rate the business had already reached in 2025.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6FD6"/>
                </a:solidFill>
                <a:latin typeface="Consolas"/>
              </a:rPr>
              <a:t>VARIANCE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20624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Segoe UI"/>
              </a:rPr>
              <a:t>EBITDA bridge: budget to actual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595959"/>
                </a:solidFill>
                <a:latin typeface="Segoe UI"/>
              </a:rPr>
              <a:t>Caliman Advisory  |  Executive Financial Review  |  Synthetic data, portfolio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 i="0">
                <a:solidFill>
                  <a:srgbClr val="595959"/>
                </a:solidFill>
                <a:latin typeface="Segoe UI"/>
              </a:rPr>
              <a:t>5</a:t>
            </a:r>
          </a:p>
        </p:txBody>
      </p:sp>
      <p:pic>
        <p:nvPicPr>
          <p:cNvPr id="7" name="Picture 6" descr="ebitda_bri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829" y="914400"/>
            <a:ext cx="6646341" cy="3383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4370832"/>
            <a:ext cx="83210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1">
                <a:solidFill>
                  <a:srgbClr val="595959"/>
                </a:solidFill>
                <a:latin typeface="Segoe UI"/>
              </a:rPr>
              <a:t>€ thousands. Bars float on the running EBITDA total, so a step can cross zero; the label is that step's own change, not its endpoint. Revenue explains most of the gap; OPEX gives back about a third.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6FD6"/>
                </a:solidFill>
                <a:latin typeface="Consolas"/>
              </a:rPr>
              <a:t>VARIANCE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20624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Segoe UI"/>
              </a:rPr>
              <a:t>OPEX grew with activity, €7.2M over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595959"/>
                </a:solidFill>
                <a:latin typeface="Segoe UI"/>
              </a:rPr>
              <a:t>Caliman Advisory  |  Executive Financial Review  |  Synthetic data, portfolio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 i="0">
                <a:solidFill>
                  <a:srgbClr val="595959"/>
                </a:solidFill>
                <a:latin typeface="Segoe UI"/>
              </a:rPr>
              <a:t>6</a:t>
            </a:r>
          </a:p>
        </p:txBody>
      </p:sp>
      <p:pic>
        <p:nvPicPr>
          <p:cNvPr id="7" name="Picture 6" descr="opex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04352"/>
            <a:ext cx="5760720" cy="258625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55080" y="1005840"/>
            <a:ext cx="242316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35000"/>
              </a:lnSpc>
            </a:pPr>
            <a:r>
              <a:rPr sz="1050" b="0" i="0">
                <a:solidFill>
                  <a:srgbClr val="1A1A1A"/>
                </a:solidFill>
                <a:latin typeface="Segoe UI"/>
              </a:rPr>
              <a:t>OPEX held at 37,9% of revenue - broadly in line with activity.
Salaries, rent and utilities make up 91% of total OPEX. Rent and utilities are normally semi-fixed and should not scale with volume the way they have here.
Action: investigate rent and utilities postings.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6FD6"/>
                </a:solidFill>
                <a:latin typeface="Consolas"/>
              </a:rPr>
              <a:t>PRIOR-YEAR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20624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Segoe UI"/>
              </a:rPr>
              <a:t>Loss-to-profit turnaround, now continuing into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595959"/>
                </a:solidFill>
                <a:latin typeface="Segoe UI"/>
              </a:rPr>
              <a:t>Caliman Advisory  |  Executive Financial Review  |  Synthetic data, portfolio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 i="0">
                <a:solidFill>
                  <a:srgbClr val="595959"/>
                </a:solidFill>
                <a:latin typeface="Segoe UI"/>
              </a:rPr>
              <a:t>7</a:t>
            </a:r>
          </a:p>
        </p:txBody>
      </p:sp>
      <p:pic>
        <p:nvPicPr>
          <p:cNvPr id="7" name="Picture 6" descr="multiyear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31545"/>
            <a:ext cx="5760720" cy="35318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355080" y="960120"/>
            <a:ext cx="2377440" cy="8229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355080" y="960120"/>
            <a:ext cx="2377440" cy="3200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83096" y="1088136"/>
            <a:ext cx="21214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Consolas"/>
              </a:rPr>
              <a:t>+100,8%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3096" y="1444752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1A1A"/>
                </a:solidFill>
                <a:latin typeface="Segoe UI"/>
              </a:rPr>
              <a:t>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3096" y="1691640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55080" y="1892808"/>
            <a:ext cx="2377440" cy="8229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55080" y="1892808"/>
            <a:ext cx="2377440" cy="3200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3096" y="2020824"/>
            <a:ext cx="21214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Consolas"/>
              </a:rPr>
              <a:t>+470,1%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2377440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1A1A"/>
                </a:solidFill>
                <a:latin typeface="Segoe UI"/>
              </a:rPr>
              <a:t>EBITDA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3096" y="2624328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55080" y="2825496"/>
            <a:ext cx="2377440" cy="8229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55080" y="2825496"/>
            <a:ext cx="2377440" cy="3200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83096" y="2953512"/>
            <a:ext cx="21214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Consolas"/>
              </a:rPr>
              <a:t>+245,8%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3096" y="3310128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1A1A"/>
                </a:solidFill>
                <a:latin typeface="Segoe UI"/>
              </a:rPr>
              <a:t>NET INCOME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3096" y="3557015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5080" y="3840480"/>
            <a:ext cx="24231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sz="950" b="0" i="0">
                <a:solidFill>
                  <a:srgbClr val="1A1A1A"/>
                </a:solidFill>
                <a:latin typeface="Segoe UI"/>
              </a:rPr>
              <a:t>2023 and 2024 were loss-making years; 2025 was the turnaround. The first four months of 2026 are already 46% of all of 2025's profit.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6FD6"/>
                </a:solidFill>
                <a:latin typeface="Consolas"/>
              </a:rPr>
              <a:t>BALANCE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20624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Segoe UI"/>
              </a:rPr>
              <a:t>Sound position, one anomaly and one watch item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595959"/>
                </a:solidFill>
                <a:latin typeface="Segoe UI"/>
              </a:rPr>
              <a:t>Caliman Advisory  |  Executive Financial Review  |  Synthetic data, portfolio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 i="0">
                <a:solidFill>
                  <a:srgbClr val="595959"/>
                </a:solidFill>
                <a:latin typeface="Segoe UI"/>
              </a:rPr>
              <a:t>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914400"/>
          <a:ext cx="56692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595959"/>
                          </a:solidFill>
                          <a:latin typeface="Consolas"/>
                        </a:rPr>
                        <a:t>€ THOUSANDS</a:t>
                      </a:r>
                    </a:p>
                  </a:txBody>
                  <a:tcPr marL="50800" marR="50800" marT="25400" marB="25400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1">
                          <a:solidFill>
                            <a:srgbClr val="595959"/>
                          </a:solidFill>
                          <a:latin typeface="Consolas"/>
                        </a:rPr>
                        <a:t>30 APR 26</a:t>
                      </a:r>
                    </a:p>
                  </a:txBody>
                  <a:tcPr marL="50800" marR="50800" marT="25400" marB="25400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1">
                          <a:solidFill>
                            <a:srgbClr val="595959"/>
                          </a:solidFill>
                          <a:latin typeface="Consolas"/>
                        </a:rPr>
                        <a:t>31 DEC 25</a:t>
                      </a:r>
                    </a:p>
                  </a:txBody>
                  <a:tcPr marL="50800" marR="50800" marT="25400" marB="25400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1">
                          <a:solidFill>
                            <a:srgbClr val="595959"/>
                          </a:solidFill>
                          <a:latin typeface="Consolas"/>
                        </a:rPr>
                        <a:t>CHANGE</a:t>
                      </a:r>
                    </a:p>
                  </a:txBody>
                  <a:tcPr marL="50800" marR="50800" marT="25400" marB="25400"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Cash &amp; equivalents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1.623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1.675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DC2626"/>
                          </a:solidFill>
                          <a:latin typeface="Consolas"/>
                        </a:rPr>
                        <a:t>(53)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Accounts receivable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48.685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21.000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27.685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Inventory (!)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DC2626"/>
                          </a:solidFill>
                          <a:latin typeface="Consolas"/>
                        </a:rPr>
                        <a:t>(7.868)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8.000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DC2626"/>
                          </a:solidFill>
                          <a:latin typeface="Consolas"/>
                        </a:rPr>
                        <a:t>(15.868)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Prepaid expenses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280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280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Segoe UI"/>
                        </a:rPr>
                        <a:t>Current assets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42.720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30.955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11.764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Non-current assets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54.691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54.800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DC2626"/>
                          </a:solidFill>
                          <a:latin typeface="Consolas"/>
                        </a:rPr>
                        <a:t>(109)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Segoe UI"/>
                        </a:rPr>
                        <a:t>Total assets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97.410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85.755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11.655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Segoe UI"/>
                        </a:rPr>
                        <a:t>Total liabilities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41.198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38.054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3.144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Segoe UI"/>
                        </a:rPr>
                        <a:t>Equity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56.212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47.702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8.511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355080" y="960120"/>
            <a:ext cx="2377440" cy="8686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355080" y="960120"/>
            <a:ext cx="2377440" cy="3200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83096" y="1088136"/>
            <a:ext cx="21214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Consolas"/>
              </a:rPr>
              <a:t>1.59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3096" y="1444752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1A1A"/>
                </a:solidFill>
                <a:latin typeface="Segoe UI"/>
              </a:rPr>
              <a:t>CURRENT RATIO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3096" y="1691640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1A6FD6"/>
                </a:solidFill>
                <a:latin typeface="Consolas"/>
              </a:rPr>
              <a:t>from 1.31, improved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920240"/>
            <a:ext cx="2377440" cy="8686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55080" y="1920240"/>
            <a:ext cx="2377440" cy="3200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3096" y="2048256"/>
            <a:ext cx="21214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Consolas"/>
              </a:rPr>
              <a:t>0.73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2404872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1A1A"/>
                </a:solidFill>
                <a:latin typeface="Segoe UI"/>
              </a:rPr>
              <a:t>DEBT TO EQUITY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3096" y="2651760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1A6FD6"/>
                </a:solidFill>
                <a:latin typeface="Consolas"/>
              </a:rPr>
              <a:t>from 0.80, improved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971800"/>
            <a:ext cx="242316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sz="900" b="0" i="0">
                <a:solidFill>
                  <a:srgbClr val="1A1A1A"/>
                </a:solidFill>
                <a:latin typeface="Segoe UI"/>
              </a:rPr>
              <a:t>(!) Inventory is negative in the ledger at Apr 2026 (was positive at year-end 2025) - a genuine data anomaly, shown at true sign rather than masked.
AR nearly doubled - the key cash-conversion watch item.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6FD6"/>
                </a:solidFill>
                <a:latin typeface="Consolas"/>
              </a:rPr>
              <a:t>CASH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20624"/>
            <a:ext cx="7772400" cy="307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1900" b="1" i="0" dirty="0">
                <a:solidFill>
                  <a:srgbClr val="1A1A1A"/>
                </a:solidFill>
                <a:latin typeface="Segoe UI"/>
              </a:rPr>
              <a:t>Operations funded growth during the period</a:t>
            </a:r>
            <a:endParaRPr sz="1900" b="1" i="0" dirty="0">
              <a:solidFill>
                <a:srgbClr val="1A1A1A"/>
              </a:solidFill>
              <a:latin typeface="Segoe U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595959"/>
                </a:solidFill>
                <a:latin typeface="Segoe UI"/>
              </a:rPr>
              <a:t>Caliman Advisory  |  Executive Financial Review  |  Synthetic data, portfolio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 i="0">
                <a:solidFill>
                  <a:srgbClr val="595959"/>
                </a:solidFill>
                <a:latin typeface="Segoe UI"/>
              </a:rPr>
              <a:t>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914400"/>
          <a:ext cx="42062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595959"/>
                          </a:solidFill>
                          <a:latin typeface="Consolas"/>
                        </a:rPr>
                        <a:t>€ THOUSANDS</a:t>
                      </a:r>
                    </a:p>
                  </a:txBody>
                  <a:tcPr marL="50800" marR="50800" marT="25400" marB="25400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595959"/>
                          </a:solidFill>
                          <a:latin typeface="Consolas"/>
                        </a:rPr>
                        <a:t>YTD APR 2026</a:t>
                      </a:r>
                    </a:p>
                  </a:txBody>
                  <a:tcPr marL="50800" marR="50800" marT="25400" marB="25400"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Segoe UI"/>
                        </a:rPr>
                        <a:t>Net income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Consolas"/>
                        </a:rPr>
                        <a:t>3.000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Segoe UI"/>
                        </a:rPr>
                        <a:t>D&amp;A (non-cash add-back)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Consolas"/>
                        </a:rPr>
                        <a:t>3.253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Segoe UI"/>
                        </a:rPr>
                        <a:t>Working capital &amp; other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DC2626"/>
                          </a:solidFill>
                          <a:latin typeface="Consolas"/>
                        </a:rPr>
                        <a:t>(586)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Segoe UI"/>
                        </a:rPr>
                        <a:t>Cash flow from operations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Consolas"/>
                        </a:rPr>
                        <a:t>5.667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Segoe UI"/>
                        </a:rPr>
                        <a:t>Investing activities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DC2626"/>
                          </a:solidFill>
                          <a:latin typeface="Consolas"/>
                        </a:rPr>
                        <a:t>(100)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Segoe UI"/>
                        </a:rPr>
                        <a:t>Financing activities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DC2626"/>
                          </a:solidFill>
                          <a:latin typeface="Consolas"/>
                        </a:rPr>
                        <a:t>(238)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Segoe UI"/>
                        </a:rPr>
                        <a:t>Net cash movement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Consolas"/>
                        </a:rPr>
                        <a:t>5.330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Segoe UI"/>
                        </a:rPr>
                        <a:t>Free cash flow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Consolas"/>
                        </a:rPr>
                        <a:t>6.154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846320" y="1005840"/>
            <a:ext cx="384048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35000"/>
              </a:lnSpc>
            </a:pPr>
            <a:r>
              <a:rPr sz="1050" b="0" i="0">
                <a:solidFill>
                  <a:srgbClr val="1A1A1A"/>
                </a:solidFill>
                <a:latin typeface="Segoe UI"/>
              </a:rPr>
              <a:t>Operating cash flow of €5,7M comfortably exceeds net income of €3,0M on the strength of the depreciation add-back. Investing activity was minimal; financing flows were near zero. Growth this period is largely self-funded from operations.
Note: the cash flow statement is internally consistent, but its closing cash does not currently tie to the balance sheet cash line - a €3.8M gap between two calculation paths in the model, logged for correction.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6FD6"/>
                </a:solidFill>
                <a:latin typeface="Consolas"/>
              </a:rPr>
              <a:t>CAPITAL EXPENDITURE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20624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Segoe UI"/>
              </a:rPr>
              <a:t>2025 program complete; nothing committed yet in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595959"/>
                </a:solidFill>
                <a:latin typeface="Segoe UI"/>
              </a:rPr>
              <a:t>Caliman Advisory  |  Executive Financial Review  |  Synthetic data, portfolio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 i="0">
                <a:solidFill>
                  <a:srgbClr val="595959"/>
                </a:solidFill>
                <a:latin typeface="Segoe UI"/>
              </a:rPr>
              <a:t>10</a:t>
            </a:r>
          </a:p>
        </p:txBody>
      </p:sp>
      <p:pic>
        <p:nvPicPr>
          <p:cNvPr id="7" name="Picture 6" descr="capex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81719"/>
            <a:ext cx="5760720" cy="223152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355080" y="960120"/>
            <a:ext cx="2377440" cy="8686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355080" y="960120"/>
            <a:ext cx="2377440" cy="3200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83096" y="1088136"/>
            <a:ext cx="21214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Consolas"/>
              </a:rPr>
              <a:t>€6,4M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3096" y="1444752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1A1A"/>
                </a:solidFill>
                <a:latin typeface="Segoe UI"/>
              </a:rPr>
              <a:t>2025 PROGRAM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3096" y="1691640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1A6FD6"/>
                </a:solidFill>
                <a:latin typeface="Consolas"/>
              </a:rPr>
              <a:t>six projects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011680"/>
            <a:ext cx="242316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sz="950" b="0" i="0">
                <a:solidFill>
                  <a:srgbClr val="1A1A1A"/>
                </a:solidFill>
                <a:latin typeface="Segoe UI"/>
              </a:rPr>
              <a:t>Cloud infrastructure and cybersecurity absorbed 55.7% of the 2025 program, consistent with the shift toward hosted delivery.
No new capex committed in 2026 through April - investing outflows are minimal against a €3.3M depreciation charge, so the asset base is being consumed faster than renewed.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657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B8CFF"/>
                </a:solidFill>
                <a:latin typeface="Consolas"/>
              </a:rPr>
              <a:t>BASIS &amp; OPEN DATA QUALITY ITEMS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Segoe UI"/>
              </a:rPr>
              <a:t>Three items to know before relying on individual lines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417320"/>
            <a:ext cx="8321040" cy="896112"/>
          </a:xfrm>
          <a:prstGeom prst="roundRect">
            <a:avLst>
              <a:gd name="adj" fmla="val 6000"/>
            </a:avLst>
          </a:prstGeom>
          <a:solidFill>
            <a:srgbClr val="15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1417320"/>
            <a:ext cx="54864" cy="89611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545336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C2626"/>
                </a:solidFill>
                <a:latin typeface="Consolas"/>
              </a:rPr>
              <a:t>01  NEGATIVE INVENTORY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37944"/>
            <a:ext cx="78638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25000"/>
              </a:lnSpc>
            </a:pPr>
            <a:r>
              <a:rPr sz="1000" b="0" i="0">
                <a:solidFill>
                  <a:srgbClr val="D7E2F0"/>
                </a:solidFill>
                <a:latin typeface="Segoe UI"/>
              </a:rPr>
              <a:t>-€7.9M at 30 Apr 2026 (positive at YE2025). A posting error, shown at true sign, not masked.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441448"/>
            <a:ext cx="8321040" cy="896112"/>
          </a:xfrm>
          <a:prstGeom prst="roundRect">
            <a:avLst>
              <a:gd name="adj" fmla="val 6000"/>
            </a:avLst>
          </a:prstGeom>
          <a:solidFill>
            <a:srgbClr val="15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1480" y="2441448"/>
            <a:ext cx="54864" cy="89611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569464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C2626"/>
                </a:solidFill>
                <a:latin typeface="Consolas"/>
              </a:rPr>
              <a:t>02  CASH CROSS-STATEMENT TIE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62072"/>
            <a:ext cx="78638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25000"/>
              </a:lnSpc>
            </a:pPr>
            <a:r>
              <a:rPr sz="1000" b="0" i="0">
                <a:solidFill>
                  <a:srgbClr val="D7E2F0"/>
                </a:solidFill>
                <a:latin typeface="Segoe UI"/>
              </a:rPr>
              <a:t>Balance sheet cash €1.6M vs cash flow closing cash €5.4M - a €3.8M gap between two calculation paths.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3465576"/>
            <a:ext cx="8321040" cy="896112"/>
          </a:xfrm>
          <a:prstGeom prst="roundRect">
            <a:avLst>
              <a:gd name="adj" fmla="val 6000"/>
            </a:avLst>
          </a:prstGeom>
          <a:solidFill>
            <a:srgbClr val="15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1480" y="3465576"/>
            <a:ext cx="54864" cy="89611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3593592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C2626"/>
                </a:solidFill>
                <a:latin typeface="Consolas"/>
              </a:rPr>
              <a:t>03  DSO/DPO EXCLUDED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886200"/>
            <a:ext cx="78638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25000"/>
              </a:lnSpc>
            </a:pPr>
            <a:r>
              <a:rPr sz="1000" b="0" i="0">
                <a:solidFill>
                  <a:srgbClr val="D7E2F0"/>
                </a:solidFill>
                <a:latin typeface="Segoe UI"/>
              </a:rPr>
              <a:t>Standalone measures don't yet respect the date filter in every context; excluded pending a fix.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66344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8FA3C2"/>
                </a:solidFill>
                <a:latin typeface="Segoe UI"/>
              </a:rPr>
              <a:t>Caliman Advisory SRL  |  Executive Financial Review  |  Synthetic data, portfolio project  |  Prepared July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1198</Words>
  <Application>Microsoft Office PowerPoint</Application>
  <PresentationFormat>Presentazione su schermo (16:9)</PresentationFormat>
  <Paragraphs>222</Paragraphs>
  <Slides>11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11</vt:i4>
      </vt:variant>
    </vt:vector>
  </HeadingPairs>
  <TitlesOfParts>
    <vt:vector size="16" baseType="lpstr">
      <vt:lpstr>Arial</vt:lpstr>
      <vt:lpstr>Calibri</vt:lpstr>
      <vt:lpstr>Consolas</vt:lpstr>
      <vt:lpstr>Segoe UI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Financial Review - YTD</dc:title>
  <dc:subject/>
  <dc:creator>Jheff Caliman</dc:creator>
  <cp:keywords/>
  <dc:description>generated using python-pptx</dc:description>
  <cp:lastModifiedBy>Jheff Caliman</cp:lastModifiedBy>
  <cp:revision>2</cp:revision>
  <dcterms:created xsi:type="dcterms:W3CDTF">2013-01-27T09:14:16Z</dcterms:created>
  <dcterms:modified xsi:type="dcterms:W3CDTF">2026-07-08T14:31:30Z</dcterms:modified>
  <cp:category/>
</cp:coreProperties>
</file>